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50"/>
  </p:notesMasterIdLst>
  <p:handoutMasterIdLst>
    <p:handoutMasterId r:id="rId51"/>
  </p:handoutMasterIdLst>
  <p:sldIdLst>
    <p:sldId id="269" r:id="rId5"/>
    <p:sldId id="267" r:id="rId6"/>
    <p:sldId id="268" r:id="rId7"/>
    <p:sldId id="259" r:id="rId8"/>
    <p:sldId id="271" r:id="rId9"/>
    <p:sldId id="285" r:id="rId10"/>
    <p:sldId id="297" r:id="rId11"/>
    <p:sldId id="296" r:id="rId12"/>
    <p:sldId id="298" r:id="rId13"/>
    <p:sldId id="286" r:id="rId14"/>
    <p:sldId id="299" r:id="rId15"/>
    <p:sldId id="301" r:id="rId16"/>
    <p:sldId id="300" r:id="rId17"/>
    <p:sldId id="287" r:id="rId18"/>
    <p:sldId id="302" r:id="rId19"/>
    <p:sldId id="303" r:id="rId20"/>
    <p:sldId id="304" r:id="rId21"/>
    <p:sldId id="277" r:id="rId22"/>
    <p:sldId id="288" r:id="rId23"/>
    <p:sldId id="305" r:id="rId24"/>
    <p:sldId id="306" r:id="rId25"/>
    <p:sldId id="289" r:id="rId26"/>
    <p:sldId id="307" r:id="rId27"/>
    <p:sldId id="308" r:id="rId28"/>
    <p:sldId id="309" r:id="rId29"/>
    <p:sldId id="310" r:id="rId30"/>
    <p:sldId id="311" r:id="rId31"/>
    <p:sldId id="290" r:id="rId32"/>
    <p:sldId id="312" r:id="rId33"/>
    <p:sldId id="313" r:id="rId34"/>
    <p:sldId id="314" r:id="rId35"/>
    <p:sldId id="315" r:id="rId36"/>
    <p:sldId id="316" r:id="rId37"/>
    <p:sldId id="317" r:id="rId38"/>
    <p:sldId id="291" r:id="rId39"/>
    <p:sldId id="284" r:id="rId40"/>
    <p:sldId id="292" r:id="rId41"/>
    <p:sldId id="318" r:id="rId42"/>
    <p:sldId id="319" r:id="rId43"/>
    <p:sldId id="293" r:id="rId44"/>
    <p:sldId id="321" r:id="rId45"/>
    <p:sldId id="322" r:id="rId46"/>
    <p:sldId id="320" r:id="rId47"/>
    <p:sldId id="273" r:id="rId48"/>
    <p:sldId id="276" r:id="rId49"/>
  </p:sldIdLst>
  <p:sldSz cx="18288000" cy="10287000"/>
  <p:notesSz cx="10287000" cy="18288000"/>
  <p:embeddedFontLst>
    <p:embeddedFont>
      <p:font typeface="Calibri" panose="020F0502020204030204" pitchFamily="34" charset="0"/>
      <p:regular r:id="rId52"/>
      <p:bold r:id="rId53"/>
      <p:italic r:id="rId54"/>
      <p:boldItalic r:id="rId55"/>
    </p:embeddedFont>
    <p:embeddedFont>
      <p:font typeface="맑은 고딕" panose="020B0503020000020004" pitchFamily="50" charset="-127"/>
      <p:regular r:id="rId56"/>
      <p:bold r:id="rId5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6BBFC"/>
    <a:srgbClr val="3EB2D7"/>
    <a:srgbClr val="2D318A"/>
    <a:srgbClr val="6297E5"/>
    <a:srgbClr val="F5F4F9"/>
    <a:srgbClr val="75A5E7"/>
    <a:srgbClr val="5BC5DD"/>
    <a:srgbClr val="4E4890"/>
    <a:srgbClr val="FF72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207" autoAdjust="0"/>
  </p:normalViewPr>
  <p:slideViewPr>
    <p:cSldViewPr>
      <p:cViewPr varScale="1">
        <p:scale>
          <a:sx n="51" d="100"/>
          <a:sy n="51" d="100"/>
        </p:scale>
        <p:origin x="624" y="90"/>
      </p:cViewPr>
      <p:guideLst>
        <p:guide orient="horz" pos="3240"/>
        <p:guide pos="576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41" d="100"/>
          <a:sy n="41" d="100"/>
        </p:scale>
        <p:origin x="4392" y="7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" Type="http://schemas.openxmlformats.org/officeDocument/2006/relationships/customXml" Target="../customXml/item2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" Type="http://schemas.openxmlformats.org/officeDocument/2006/relationships/customXml" Target="../customXml/item3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" Type="http://schemas.openxmlformats.org/officeDocument/2006/relationships/slideMaster" Target="slideMasters/slideMaster1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50" Type="http://schemas.openxmlformats.org/officeDocument/2006/relationships/notesMaster" Target="notesMasters/notesMaster1.xml"/><Relationship Id="rId51" Type="http://schemas.openxmlformats.org/officeDocument/2006/relationships/handoutMaster" Target="handoutMasters/handoutMaster1.xml"/><Relationship Id="rId52" Type="http://schemas.openxmlformats.org/officeDocument/2006/relationships/font" Target="fonts/font1.fntdata"/><Relationship Id="rId53" Type="http://schemas.openxmlformats.org/officeDocument/2006/relationships/font" Target="fonts/font2.fntdata"/><Relationship Id="rId54" Type="http://schemas.openxmlformats.org/officeDocument/2006/relationships/font" Target="fonts/font3.fntdata"/><Relationship Id="rId55" Type="http://schemas.openxmlformats.org/officeDocument/2006/relationships/font" Target="fonts/font4.fntdata"/><Relationship Id="rId56" Type="http://schemas.openxmlformats.org/officeDocument/2006/relationships/font" Target="fonts/font5.fntdata"/><Relationship Id="rId57" Type="http://schemas.openxmlformats.org/officeDocument/2006/relationships/font" Target="fonts/font6.fntdata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" Type="http://schemas.openxmlformats.org/officeDocument/2006/relationships/slide" Target="slides/slide2.xml"/><Relationship Id="rId60" Type="http://schemas.openxmlformats.org/officeDocument/2006/relationships/theme" Target="theme/theme1.xml"/><Relationship Id="rId61" Type="http://schemas.openxmlformats.org/officeDocument/2006/relationships/tableStyles" Target="tableStyles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B52DE651-10A4-9C9D-29E8-6C1754481D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1FA8C52-ABB0-6329-2636-77B586E712D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827713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F57DA2-A079-4FDD-8426-4000349F878D}" type="datetimeFigureOut">
              <a:rPr lang="ko-KR" altLang="en-US" smtClean="0"/>
              <a:t>2023-05-24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80FE509-5E7B-04B8-1658-1E2FC76256C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B0B34A7-3580-BE5D-C38B-D96F6226DB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827713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6B6471-1C58-44A9-B712-307C6C109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67274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827713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4B28FC-43E0-4E81-8E11-BE5E8E664A53}" type="datetimeFigureOut">
              <a:rPr lang="ko-KR" altLang="en-US" smtClean="0"/>
              <a:t>2023-05-24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827713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25B56F-D1BB-4222-B3E0-47D56C1452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6740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5B56F-D1BB-4222-B3E0-47D56C1452C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81951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설명</a:t>
            </a:r>
            <a:r>
              <a:rPr lang="en-US" altLang="ko-KR"/>
              <a:t>]</a:t>
            </a:r>
          </a:p>
          <a:p>
            <a:r>
              <a:rPr lang="ko-KR" altLang="en-US"/>
              <a:t>잘못된 질문으로 인해 생각하지 못한 일이 벌어진 적이 있습니까</a:t>
            </a:r>
            <a:r>
              <a:rPr lang="en-US" altLang="ko-KR"/>
              <a:t>?</a:t>
            </a:r>
          </a:p>
          <a:p>
            <a:endParaRPr lang="en-US" altLang="ko-KR"/>
          </a:p>
          <a:p>
            <a:r>
              <a:rPr lang="ko-KR" altLang="en-US"/>
              <a:t>업무를 잘 하기 위해 해야할 질문들은 무엇이라고 생각합니까</a:t>
            </a:r>
            <a:r>
              <a:rPr lang="en-US" altLang="ko-KR"/>
              <a:t>?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5B56F-D1BB-4222-B3E0-47D56C1452C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7205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[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설명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]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i="0">
                <a:solidFill>
                  <a:srgbClr val="444444"/>
                </a:solidFill>
                <a:effectLst/>
                <a:latin typeface="배달의민족 도현" panose="020B0600000101010101" pitchFamily="50" charset="-127"/>
              </a:rPr>
              <a:t>새로운 시도</a:t>
            </a:r>
            <a:r>
              <a:rPr lang="en-US" altLang="ko-KR" b="0" i="0">
                <a:solidFill>
                  <a:srgbClr val="444444"/>
                </a:solidFill>
                <a:effectLst/>
                <a:latin typeface="배달의민족 도현" panose="020B0600000101010101" pitchFamily="50" charset="-127"/>
              </a:rPr>
              <a:t>, </a:t>
            </a:r>
            <a:r>
              <a:rPr lang="ko-KR" altLang="en-US" b="0" i="0">
                <a:solidFill>
                  <a:srgbClr val="444444"/>
                </a:solidFill>
                <a:effectLst/>
                <a:latin typeface="배달의민족 도현" panose="020B0600000101010101" pitchFamily="50" charset="-127"/>
              </a:rPr>
              <a:t>변화와 성장</a:t>
            </a:r>
            <a:r>
              <a:rPr lang="en-US" altLang="ko-KR" b="0" i="0">
                <a:solidFill>
                  <a:srgbClr val="444444"/>
                </a:solidFill>
                <a:effectLst/>
                <a:latin typeface="배달의민족 도현" panose="020B0600000101010101" pitchFamily="50" charset="-127"/>
              </a:rPr>
              <a:t>, </a:t>
            </a:r>
            <a:r>
              <a:rPr lang="ko-KR" altLang="en-US" b="0" i="0">
                <a:solidFill>
                  <a:srgbClr val="444444"/>
                </a:solidFill>
                <a:effectLst/>
                <a:latin typeface="배달의민족 도현" panose="020B0600000101010101" pitchFamily="50" charset="-127"/>
              </a:rPr>
              <a:t>혁신 리더십 등을 생각한다면 많은 생각과 질문이 있을 것입니다</a:t>
            </a:r>
            <a:r>
              <a:rPr lang="en-US" altLang="ko-KR" b="0" i="0">
                <a:solidFill>
                  <a:srgbClr val="444444"/>
                </a:solidFill>
                <a:effectLst/>
                <a:latin typeface="배달의민족 도현" panose="020B0600000101010101" pitchFamily="50" charset="-127"/>
              </a:rPr>
              <a:t>. 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i="0">
                <a:solidFill>
                  <a:srgbClr val="444444"/>
                </a:solidFill>
                <a:effectLst/>
                <a:latin typeface="배달의민족 도현" panose="020B0600000101010101" pitchFamily="50" charset="-127"/>
              </a:rPr>
              <a:t>우리의 생각을 좀 더 합리적이며 단순하게 나름의 대답을 찾아가는데 피터 드러커의 </a:t>
            </a:r>
            <a:r>
              <a:rPr lang="en-US" altLang="ko-KR" b="0" i="0">
                <a:solidFill>
                  <a:srgbClr val="444444"/>
                </a:solidFill>
                <a:effectLst/>
                <a:latin typeface="배달의민족 도현" panose="020B0600000101010101" pitchFamily="50" charset="-127"/>
              </a:rPr>
              <a:t>5</a:t>
            </a:r>
            <a:r>
              <a:rPr lang="ko-KR" altLang="en-US" b="0" i="0">
                <a:solidFill>
                  <a:srgbClr val="444444"/>
                </a:solidFill>
                <a:effectLst/>
                <a:latin typeface="배달의민족 도현" panose="020B0600000101010101" pitchFamily="50" charset="-127"/>
              </a:rPr>
              <a:t>대 질문은 분명 도움이 될 것입니다</a:t>
            </a:r>
            <a:r>
              <a:rPr lang="en-US" altLang="ko-KR" b="0" i="0">
                <a:solidFill>
                  <a:srgbClr val="444444"/>
                </a:solidFill>
                <a:effectLst/>
                <a:latin typeface="배달의민족 도현" panose="020B0600000101010101" pitchFamily="50" charset="-127"/>
              </a:rPr>
              <a:t>.  </a:t>
            </a:r>
            <a:endParaRPr lang="en-US" altLang="ko-KR" sz="12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이 질문들은 우리가 무엇을 해야하는지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왜 그 일을 하는지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조직의 성과를 향상 시키기 위해 필요한 것은 무엇인지 점검하는 방법입니다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b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</a:b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{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각 항목을 질문하고 자유롭게 자신의 생각을 이야기 할 수 있도록 유도합니다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.}</a:t>
            </a:r>
            <a:b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</a:br>
            <a:endParaRPr lang="en-US" altLang="ko-KR" sz="12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[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첨부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]</a:t>
            </a:r>
          </a:p>
          <a:p>
            <a:pPr algn="l" latinLnBrk="1"/>
            <a:r>
              <a:rPr lang="en-US" altLang="ko-KR" b="1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1. </a:t>
            </a:r>
            <a:r>
              <a:rPr lang="ko-KR" altLang="en-US" b="1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우리의 사명은 무엇인가</a:t>
            </a:r>
            <a:r>
              <a:rPr lang="en-US" altLang="ko-KR" b="1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?</a:t>
            </a:r>
            <a:endParaRPr lang="ko-KR" altLang="en-US" b="0" i="0">
              <a:solidFill>
                <a:srgbClr val="666666"/>
              </a:solidFill>
              <a:effectLst/>
              <a:latin typeface="배달의민족 도현" panose="020B0600000101010101" pitchFamily="50" charset="-127"/>
            </a:endParaRPr>
          </a:p>
          <a:p>
            <a:pPr algn="l" latinLnBrk="1"/>
            <a:r>
              <a:rPr lang="ko-KR" altLang="en-US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이것은 목표</a:t>
            </a:r>
            <a:r>
              <a:rPr lang="en-US" altLang="ko-KR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(goal)</a:t>
            </a:r>
            <a:r>
              <a:rPr lang="ko-KR" altLang="en-US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에 대한 질문이 아니라 존재에 대한 질문이며 정체성에 대한 질문입니다</a:t>
            </a:r>
            <a:r>
              <a:rPr lang="en-US" altLang="ko-KR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기업으로서</a:t>
            </a:r>
            <a:r>
              <a:rPr lang="en-US" altLang="ko-KR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, </a:t>
            </a:r>
            <a:r>
              <a:rPr lang="ko-KR" altLang="en-US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개인으로서 존재하는 이유에 대한 질문이며 존재로서 세상에 제공할 가치에 대한 질문이기도 합니다</a:t>
            </a:r>
            <a:r>
              <a:rPr lang="en-US" altLang="ko-KR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기업이라면 당신의 기업이 왜 성공해야 하며 내가 왜 당신의 고객이 되어야 합니까</a:t>
            </a:r>
            <a:r>
              <a:rPr lang="en-US" altLang="ko-KR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?</a:t>
            </a:r>
            <a:r>
              <a:rPr lang="ko-KR" altLang="en-US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라는 질문이 될 것이며</a:t>
            </a:r>
            <a:r>
              <a:rPr lang="en-US" altLang="ko-KR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, </a:t>
            </a:r>
            <a:r>
              <a:rPr lang="ko-KR" altLang="en-US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개인이라면 “왜 태어났니</a:t>
            </a:r>
            <a:r>
              <a:rPr lang="en-US" altLang="ko-KR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?” “</a:t>
            </a:r>
            <a:r>
              <a:rPr lang="ko-KR" altLang="en-US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왜 사니</a:t>
            </a:r>
            <a:r>
              <a:rPr lang="en-US" altLang="ko-KR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?”</a:t>
            </a:r>
            <a:r>
              <a:rPr lang="ko-KR" altLang="en-US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라는 단순한 질문이 될 것입니다</a:t>
            </a:r>
            <a:r>
              <a:rPr lang="en-US" altLang="ko-KR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리더에게 라면 내가 왜 당신과 뜻을 같이 해야 하는지</a:t>
            </a:r>
            <a:r>
              <a:rPr lang="en-US" altLang="ko-KR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, </a:t>
            </a:r>
            <a:r>
              <a:rPr lang="ko-KR" altLang="en-US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왜 당신을 따라가야 하는지에 대한 질문이기도 할 것입니다</a:t>
            </a:r>
            <a:r>
              <a:rPr lang="en-US" altLang="ko-KR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.</a:t>
            </a:r>
          </a:p>
          <a:p>
            <a:pPr algn="l" latinLnBrk="1"/>
            <a:endParaRPr lang="en-US" altLang="ko-KR" b="0" i="0">
              <a:solidFill>
                <a:srgbClr val="666666"/>
              </a:solidFill>
              <a:effectLst/>
              <a:latin typeface="배달의민족 도현" panose="020B0600000101010101" pitchFamily="50" charset="-127"/>
            </a:endParaRPr>
          </a:p>
          <a:p>
            <a:pPr algn="l" latinLnBrk="1"/>
            <a:r>
              <a:rPr lang="ko-KR" altLang="en-US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한마디로 사명이 목적이 무엇입니까</a:t>
            </a:r>
            <a:r>
              <a:rPr lang="en-US" altLang="ko-KR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? </a:t>
            </a:r>
            <a:r>
              <a:rPr lang="ko-KR" altLang="en-US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라는 질문은 당신은</a:t>
            </a:r>
            <a:r>
              <a:rPr lang="en-US" altLang="ko-KR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/</a:t>
            </a:r>
            <a:r>
              <a:rPr lang="ko-KR" altLang="en-US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당신의 기업은 왜 존재합니까</a:t>
            </a:r>
            <a:r>
              <a:rPr lang="en-US" altLang="ko-KR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? </a:t>
            </a:r>
            <a:r>
              <a:rPr lang="ko-KR" altLang="en-US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라는 질문인 것입니다</a:t>
            </a:r>
            <a:r>
              <a:rPr lang="en-US" altLang="ko-KR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이것은 출발지와 목적지에 대한 질문이고</a:t>
            </a:r>
            <a:r>
              <a:rPr lang="en-US" altLang="ko-KR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, </a:t>
            </a:r>
            <a:r>
              <a:rPr lang="ko-KR" altLang="en-US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정체성과 차별성에 대한 질문이기도 합니다</a:t>
            </a:r>
            <a:r>
              <a:rPr lang="en-US" altLang="ko-KR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더 나아가 방향성에 대한 질문이며 어떤 결정을 해야 하는 모든 사안에 기준점을 제시하는 판단 기준이 무엇인가</a:t>
            </a:r>
            <a:r>
              <a:rPr lang="en-US" altLang="ko-KR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? </a:t>
            </a:r>
            <a:r>
              <a:rPr lang="ko-KR" altLang="en-US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라는 질문이기도 합니다</a:t>
            </a:r>
            <a:r>
              <a:rPr lang="en-US" altLang="ko-KR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.</a:t>
            </a:r>
          </a:p>
          <a:p>
            <a:pPr algn="l" latinLnBrk="1"/>
            <a:endParaRPr lang="ko-KR" altLang="en-US" b="0" i="0">
              <a:solidFill>
                <a:srgbClr val="666666"/>
              </a:solidFill>
              <a:effectLst/>
              <a:latin typeface="배달의민족 도현" panose="020B0600000101010101" pitchFamily="50" charset="-127"/>
            </a:endParaRPr>
          </a:p>
          <a:p>
            <a:pPr algn="l" latinLnBrk="1"/>
            <a:r>
              <a:rPr lang="en-US" altLang="ko-KR" b="1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2. </a:t>
            </a:r>
            <a:r>
              <a:rPr lang="ko-KR" altLang="en-US" b="1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우리의 고객은 누구인가</a:t>
            </a:r>
            <a:r>
              <a:rPr lang="en-US" altLang="ko-KR" b="1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?</a:t>
            </a:r>
            <a:endParaRPr lang="ko-KR" altLang="en-US" b="0" i="0">
              <a:solidFill>
                <a:srgbClr val="666666"/>
              </a:solidFill>
              <a:effectLst/>
              <a:latin typeface="배달의민족 도현" panose="020B0600000101010101" pitchFamily="50" charset="-127"/>
            </a:endParaRPr>
          </a:p>
          <a:p>
            <a:pPr algn="l" latinLnBrk="1"/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이 질문은 내가 하는 노력이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,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내가 만드는 결과가 누구를 위한 것인가에 대한 질문입니다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저는 강의를 자주 합니다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강의를 하는 사람으로써 제일 먼저 파악해야 하는 것이 바로 대상자를 파악하는 것입니다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대상자가 파악이 되어야 강의의 제목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,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내용 등이 결정되어 효율적인 시간이 될 것입니다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청중을 파악하고 그들의 니즈를 이해하는 것은 강의를 해야 하는 제가 그들에게 주고자 하는 가치가 무엇인가를 정립하고 효율적 시간 투자를 함에 있어서 가장 우선되는 과제일 것입니다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</a:t>
            </a:r>
          </a:p>
          <a:p>
            <a:pPr algn="l" latinLnBrk="1"/>
            <a:endParaRPr lang="en-US" altLang="ko-KR" b="0" i="0">
              <a:solidFill>
                <a:srgbClr val="997000"/>
              </a:solidFill>
              <a:effectLst/>
              <a:latin typeface="배달의민족 도현" panose="020B0600000101010101" pitchFamily="50" charset="-127"/>
            </a:endParaRPr>
          </a:p>
          <a:p>
            <a:pPr algn="l" latinLnBrk="1"/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우리는 매일매일 독특하며 때로는 훌륭한 아이디어들과 제품들이 특허청을 통해 세상에 선을 보이고 있다는 것을 압니다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하지만 그 수많은 특허 중 세상에서 빛을 발하는 것들보다 묻혀져 버리고 없어져 버리는 것들이 엄청나게 많다는 것 또한 우리는 압니다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즉 받아들여지지 못한 아이디어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/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제품들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,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고객이 없는 아이디어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/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제품들은 세상에서 어떤 가치를 가질 수 없게 된다는 것입니다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고객이 없는 당신의 노력과 결과는 그저 자기 만족으로 끝나게 될 것입니다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그 모습은 똑똑한 실패자들의 전형적인 모습입니다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어떤 것이던 고객이 없다면 그 존재는 무의미 하게 됩니다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그렇기에 내가 만들고 싶은 가치는 어떤 고객을 위한 것인가에 대한 판단이 우선되어져야 하는 것입니다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</a:t>
            </a:r>
          </a:p>
          <a:p>
            <a:pPr algn="l" latinLnBrk="1"/>
            <a:br>
              <a:rPr lang="ko-KR" altLang="en-US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</a:br>
            <a:r>
              <a:rPr lang="en-US" altLang="ko-KR" b="1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3. </a:t>
            </a:r>
            <a:r>
              <a:rPr lang="ko-KR" altLang="en-US" b="1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고객이 가치있게 여기는 것은 무엇인가</a:t>
            </a:r>
            <a:r>
              <a:rPr lang="en-US" altLang="ko-KR" b="1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?</a:t>
            </a:r>
            <a:endParaRPr lang="ko-KR" altLang="en-US" b="0" i="0">
              <a:solidFill>
                <a:srgbClr val="666666"/>
              </a:solidFill>
              <a:effectLst/>
              <a:latin typeface="배달의민족 도현" panose="020B0600000101010101" pitchFamily="50" charset="-127"/>
            </a:endParaRPr>
          </a:p>
          <a:p>
            <a:pPr algn="l" latinLnBrk="1"/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2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번 질문을 통해 “나의 고객은 누구인가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?”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가 정립되었다면 이제는 그들이 받아들일 만한 가치는 무엇인가에 대한 이해와 검증이 있어야 합니다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나에게 좋은 것이 좋은 것이 아니라 그들이 좋아야 가치로 인정받을 수 있습니다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내가 제공하는 그 어떤 것을 그들이 받아들이려면 그들이 인정하는 가치로서 제공되어지고 있어야 합니다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</a:t>
            </a:r>
          </a:p>
          <a:p>
            <a:pPr algn="l" latinLnBrk="1"/>
            <a:endParaRPr lang="en-US" altLang="ko-KR" b="0" i="0">
              <a:solidFill>
                <a:srgbClr val="997000"/>
              </a:solidFill>
              <a:effectLst/>
              <a:latin typeface="배달의민족 도현" panose="020B0600000101010101" pitchFamily="50" charset="-127"/>
            </a:endParaRPr>
          </a:p>
          <a:p>
            <a:pPr algn="l" latinLnBrk="1"/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그것은 추측으로 되지 않습니다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내 감각만 가지고 결정할 수 있는 문제도 아닙니다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내 경험만 가지고도 되는 것이 아닙니다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거대했던 글로벌 기업들이 역사속으로 사라져간 이유가 바로 변화하는 고객들의 가치를 파악하고 이해하고 인정하는 나름의 노력 부족이었다 해도 과하지 않을 것입니다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고객이 귀하게 여기는 가치를 제공하지 못하고 있다면 결국에는 외면당하고 업계에서 퇴출당하고 마는 것입니다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</a:t>
            </a:r>
          </a:p>
          <a:p>
            <a:pPr algn="l" latinLnBrk="1"/>
            <a:endParaRPr lang="en-US" altLang="ko-KR" b="0" i="0">
              <a:solidFill>
                <a:srgbClr val="997000"/>
              </a:solidFill>
              <a:effectLst/>
              <a:latin typeface="배달의민족 도현" panose="020B0600000101010101" pitchFamily="50" charset="-127"/>
            </a:endParaRPr>
          </a:p>
          <a:p>
            <a:pPr algn="l" latinLnBrk="1"/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고객에게 물어보아야 합니다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수많은 회사들이 시장조사를 하고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,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설문을 하고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,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통계를 보는 이유가 바로 그것입니다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자녀의 생일에 어떤 선물을 받고 싶은 지 물어보는 이유 또한 바로 그것입니다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이처럼 한 개인도 자신의 공적인 삶과 사적인 삶속에서 존재하는 고객들이 귀하게 여기는 가치를 알고 있어야 합니다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그것이 배우자이던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,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자녀이던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,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동료이던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,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고객이던 그 모두가 인생의 고객이라는 관점에서 그들이 귀하게 여기는 가치를 제공하고 있어야 합니다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그들이 귀하게 여기는 가치를 제공할 수 있을 때 가장으로서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,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직장인으로서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,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기업인으로서 성공의 속도와 크기는 전혀 다르게 느껴질 것입니다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</a:t>
            </a:r>
          </a:p>
          <a:p>
            <a:pPr algn="l" latinLnBrk="1"/>
            <a:br>
              <a:rPr lang="ko-KR" altLang="en-US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</a:br>
            <a:r>
              <a:rPr lang="en-US" altLang="ko-KR" b="1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4. </a:t>
            </a:r>
            <a:r>
              <a:rPr lang="ko-KR" altLang="en-US" b="1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우리의 결과는 무엇인가</a:t>
            </a:r>
            <a:r>
              <a:rPr lang="en-US" altLang="ko-KR" b="1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?</a:t>
            </a:r>
            <a:endParaRPr lang="ko-KR" altLang="en-US" b="0" i="0">
              <a:solidFill>
                <a:srgbClr val="666666"/>
              </a:solidFill>
              <a:effectLst/>
              <a:latin typeface="배달의민족 도현" panose="020B0600000101010101" pitchFamily="50" charset="-127"/>
            </a:endParaRPr>
          </a:p>
          <a:p>
            <a:pPr algn="l" latinLnBrk="1"/>
            <a:r>
              <a:rPr lang="ko-KR" altLang="en-US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 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이 질문은 현실인식의 문제입니다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사명이 목적지를 결정한다면 지금까지의 결과는 이정표로서의 기능을 제시하고 진단을 가능하게 합니다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이것은 바라봄에 있어서 긍정적이 되어서도 부정적이 되어서도 안 됩니다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있는 그대로 정확히 보아야 한다는 것입니다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그런 의미에서 현재의 결과는 어떤 변화가 필요한지를 결정하는 아주 중요한 자산적 가치를 제공하게 될 것입니다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</a:t>
            </a:r>
          </a:p>
          <a:p>
            <a:pPr algn="l" latinLnBrk="1"/>
            <a:endParaRPr lang="en-US" altLang="ko-KR" b="0" i="0">
              <a:solidFill>
                <a:srgbClr val="997000"/>
              </a:solidFill>
              <a:effectLst/>
              <a:latin typeface="배달의민족 도현" panose="020B0600000101010101" pitchFamily="50" charset="-127"/>
            </a:endParaRPr>
          </a:p>
          <a:p>
            <a:pPr algn="l" latinLnBrk="1"/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저는 결과에 대해 가르치며 두가지를 중점으로 이야기합니다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즉 성과와 배움의 문제입니다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한마디로 매출이 성장하든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,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고객 만족도가 높아지든 등의 숫자적 성과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,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즉 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KPI,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핵심 성과 지표에 의해 진단되는 성과입니다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만약 그러한 장부상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,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숫자상의 성과가 없다면 배움이라도 있어야 합니다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배움이라도 있다면 기회가 있기 때문입니다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</a:t>
            </a:r>
          </a:p>
          <a:p>
            <a:pPr algn="l" latinLnBrk="1"/>
            <a:endParaRPr lang="en-US" altLang="ko-KR" b="0" i="0">
              <a:solidFill>
                <a:srgbClr val="997000"/>
              </a:solidFill>
              <a:effectLst/>
              <a:latin typeface="배달의민족 도현" panose="020B0600000101010101" pitchFamily="50" charset="-127"/>
            </a:endParaRPr>
          </a:p>
          <a:p>
            <a:pPr algn="l" latinLnBrk="1"/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성과가 있든 배움이 있든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,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결과는 존재하며 그 결과를 진단함으로 현실인식이 가능하게 됩니다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그리고 그것은 이정표가 되어 방향 설정과 교정의 효율적 판단을 가능하게 할 것입니다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</a:t>
            </a:r>
            <a:endParaRPr lang="ko-KR" altLang="en-US" b="0" i="0">
              <a:solidFill>
                <a:srgbClr val="666666"/>
              </a:solidFill>
              <a:effectLst/>
              <a:latin typeface="배달의민족 도현" panose="020B0600000101010101" pitchFamily="50" charset="-127"/>
            </a:endParaRPr>
          </a:p>
          <a:p>
            <a:pPr algn="l" latinLnBrk="1"/>
            <a:br>
              <a:rPr lang="ko-KR" altLang="en-US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</a:br>
            <a:r>
              <a:rPr lang="en-US" altLang="ko-KR" b="1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5. </a:t>
            </a:r>
            <a:r>
              <a:rPr lang="ko-KR" altLang="en-US" b="1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우리의 계획은 무엇인가</a:t>
            </a:r>
            <a:r>
              <a:rPr lang="en-US" altLang="ko-KR" b="1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?</a:t>
            </a:r>
            <a:endParaRPr lang="ko-KR" altLang="en-US" b="0" i="0">
              <a:solidFill>
                <a:srgbClr val="666666"/>
              </a:solidFill>
              <a:effectLst/>
              <a:latin typeface="배달의민족 도현" panose="020B0600000101010101" pitchFamily="50" charset="-127"/>
            </a:endParaRPr>
          </a:p>
          <a:p>
            <a:pPr algn="l" latinLnBrk="1"/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마지막 질문입니다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“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계획은 무엇입니까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?”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라는 질문은 목적지가 분명하며 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(1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번 질문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)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자신이 제공할 가치를 누릴 고객은 누구이며 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(2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번 질문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)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그들이 원하는 가치가 무엇인가에 대한 생각이 정립되어져 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(3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번 질문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)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있으며 지금까지의 결과를 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(4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번 질문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)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근간으로 한 현재의 체질 진단이 된 기업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/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사람만이 던질 수 있는 질문입니다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만약 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1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번부터 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4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번까지의 질문에 대해 명확한 대답없이 계획이라는 것을 가지게 된다면 그것은 혼란만 더하게 될 것입니다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많은 기업과 사람들이 열심히 하고도 허망한 이유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,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만들어낸 그들의 결과가 제대로 된 가치가 되지 못하는 이유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,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투자된 이러저러한 많은 것들이 낭비되는 이유가 바로 여기에 있습니다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</a:t>
            </a:r>
          </a:p>
          <a:p>
            <a:pPr algn="l" latinLnBrk="1"/>
            <a:endParaRPr lang="en-US" altLang="ko-KR" b="0" i="0">
              <a:solidFill>
                <a:srgbClr val="997000"/>
              </a:solidFill>
              <a:effectLst/>
              <a:latin typeface="배달의민족 도현" panose="020B0600000101010101" pitchFamily="50" charset="-127"/>
            </a:endParaRPr>
          </a:p>
          <a:p>
            <a:pPr algn="l" latinLnBrk="1"/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1~4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번까지의 질문에 답을 가진 기업과 개인에게 “계획이 무엇입니까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?”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라는 질문은 미래를 향한 질문입니다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이 질문을 통해 그들은 오늘 무엇을 하고 있어야 하며 어떤 결과를 기대할 수 있는지에 대한 답을 얻을 수 있습니다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이 계획을 근간으로 앞으로 일어나는 일에 대한 생각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,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행동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,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판단의 기준점과 방향성을 결정짓게 되는 것입니다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5B56F-D1BB-4222-B3E0-47D56C1452C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45202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[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실습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]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3~4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명을 한팀으로 조직합니다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각 팀별로 소규모 회의실에 모여 토론을 하고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3~5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분간 질문들에 대한 답변을 작성합니다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전체 회의실에 모여 각 질문에 대한 답을 공유합니다</a:t>
            </a:r>
            <a:r>
              <a:rPr lang="en-US" altLang="ko-KR" sz="1200"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</a:br>
            <a:endParaRPr lang="en-US" altLang="ko-KR" sz="12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[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첨부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]</a:t>
            </a:r>
          </a:p>
          <a:p>
            <a:pPr algn="l" latinLnBrk="1"/>
            <a:r>
              <a:rPr lang="en-US" altLang="ko-KR" b="1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1. </a:t>
            </a:r>
            <a:r>
              <a:rPr lang="ko-KR" altLang="en-US" b="1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우리의 사명은 무엇인가</a:t>
            </a:r>
            <a:r>
              <a:rPr lang="en-US" altLang="ko-KR" b="1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?</a:t>
            </a:r>
            <a:endParaRPr lang="ko-KR" altLang="en-US" b="0" i="0">
              <a:solidFill>
                <a:srgbClr val="666666"/>
              </a:solidFill>
              <a:effectLst/>
              <a:latin typeface="배달의민족 도현" panose="020B0600000101010101" pitchFamily="50" charset="-127"/>
            </a:endParaRPr>
          </a:p>
          <a:p>
            <a:pPr algn="l" latinLnBrk="1"/>
            <a:r>
              <a:rPr lang="ko-KR" altLang="en-US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이것은 목표</a:t>
            </a:r>
            <a:r>
              <a:rPr lang="en-US" altLang="ko-KR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(goal)</a:t>
            </a:r>
            <a:r>
              <a:rPr lang="ko-KR" altLang="en-US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에 대한 질문이 아니라 존재에 대한 질문이며 정체성에 대한 질문입니다</a:t>
            </a:r>
            <a:r>
              <a:rPr lang="en-US" altLang="ko-KR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기업으로서</a:t>
            </a:r>
            <a:r>
              <a:rPr lang="en-US" altLang="ko-KR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, </a:t>
            </a:r>
            <a:r>
              <a:rPr lang="ko-KR" altLang="en-US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개인으로서 존재하는 이유에 대한 질문이며 존재로서 세상에 제공할 가치에 대한 질문이기도 합니다</a:t>
            </a:r>
            <a:r>
              <a:rPr lang="en-US" altLang="ko-KR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기업이라면 당신의 기업이 왜 성공해야 하며 내가 왜 당신의 고객이 되어야 합니까</a:t>
            </a:r>
            <a:r>
              <a:rPr lang="en-US" altLang="ko-KR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?</a:t>
            </a:r>
            <a:r>
              <a:rPr lang="ko-KR" altLang="en-US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라는 질문이 될 것이며</a:t>
            </a:r>
            <a:r>
              <a:rPr lang="en-US" altLang="ko-KR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, </a:t>
            </a:r>
            <a:r>
              <a:rPr lang="ko-KR" altLang="en-US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개인이라면 “왜 태어났니</a:t>
            </a:r>
            <a:r>
              <a:rPr lang="en-US" altLang="ko-KR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?” “</a:t>
            </a:r>
            <a:r>
              <a:rPr lang="ko-KR" altLang="en-US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왜 사니</a:t>
            </a:r>
            <a:r>
              <a:rPr lang="en-US" altLang="ko-KR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?”</a:t>
            </a:r>
            <a:r>
              <a:rPr lang="ko-KR" altLang="en-US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라는 단순한 질문이 될 것입니다</a:t>
            </a:r>
            <a:r>
              <a:rPr lang="en-US" altLang="ko-KR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리더에게 라면 내가 왜 당신과 뜻을 같이 해야 하는지</a:t>
            </a:r>
            <a:r>
              <a:rPr lang="en-US" altLang="ko-KR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, </a:t>
            </a:r>
            <a:r>
              <a:rPr lang="ko-KR" altLang="en-US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왜 당신을 따라가야 하는지에 대한 질문이기도 할 것입니다</a:t>
            </a:r>
            <a:r>
              <a:rPr lang="en-US" altLang="ko-KR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.</a:t>
            </a:r>
          </a:p>
          <a:p>
            <a:pPr algn="l" latinLnBrk="1"/>
            <a:endParaRPr lang="en-US" altLang="ko-KR" b="0" i="0">
              <a:solidFill>
                <a:srgbClr val="666666"/>
              </a:solidFill>
              <a:effectLst/>
              <a:latin typeface="배달의민족 도현" panose="020B0600000101010101" pitchFamily="50" charset="-127"/>
            </a:endParaRPr>
          </a:p>
          <a:p>
            <a:pPr algn="l" latinLnBrk="1"/>
            <a:r>
              <a:rPr lang="ko-KR" altLang="en-US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한마디로 사명이 목적이 무엇입니까</a:t>
            </a:r>
            <a:r>
              <a:rPr lang="en-US" altLang="ko-KR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? </a:t>
            </a:r>
            <a:r>
              <a:rPr lang="ko-KR" altLang="en-US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라는 질문은 당신은</a:t>
            </a:r>
            <a:r>
              <a:rPr lang="en-US" altLang="ko-KR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/</a:t>
            </a:r>
            <a:r>
              <a:rPr lang="ko-KR" altLang="en-US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당신의 기업은 왜 존재합니까</a:t>
            </a:r>
            <a:r>
              <a:rPr lang="en-US" altLang="ko-KR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? </a:t>
            </a:r>
            <a:r>
              <a:rPr lang="ko-KR" altLang="en-US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라는 질문인 것입니다</a:t>
            </a:r>
            <a:r>
              <a:rPr lang="en-US" altLang="ko-KR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이것은 출발지와 목적지에 대한 질문이고</a:t>
            </a:r>
            <a:r>
              <a:rPr lang="en-US" altLang="ko-KR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, </a:t>
            </a:r>
            <a:r>
              <a:rPr lang="ko-KR" altLang="en-US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정체성과 차별성에 대한 질문이기도 합니다</a:t>
            </a:r>
            <a:r>
              <a:rPr lang="en-US" altLang="ko-KR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더 나아가 방향성에 대한 질문이며 어떤 결정을 해야 하는 모든 사안에 기준점을 제시하는 판단 기준이 무엇인가</a:t>
            </a:r>
            <a:r>
              <a:rPr lang="en-US" altLang="ko-KR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? </a:t>
            </a:r>
            <a:r>
              <a:rPr lang="ko-KR" altLang="en-US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라는 질문이기도 합니다</a:t>
            </a:r>
            <a:r>
              <a:rPr lang="en-US" altLang="ko-KR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.</a:t>
            </a:r>
          </a:p>
          <a:p>
            <a:pPr algn="l" latinLnBrk="1"/>
            <a:endParaRPr lang="ko-KR" altLang="en-US" b="0" i="0">
              <a:solidFill>
                <a:srgbClr val="666666"/>
              </a:solidFill>
              <a:effectLst/>
              <a:latin typeface="배달의민족 도현" panose="020B0600000101010101" pitchFamily="50" charset="-127"/>
            </a:endParaRPr>
          </a:p>
          <a:p>
            <a:pPr algn="l" latinLnBrk="1"/>
            <a:r>
              <a:rPr lang="en-US" altLang="ko-KR" b="1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2. </a:t>
            </a:r>
            <a:r>
              <a:rPr lang="ko-KR" altLang="en-US" b="1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우리의 고객은 누구인가</a:t>
            </a:r>
            <a:r>
              <a:rPr lang="en-US" altLang="ko-KR" b="1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?</a:t>
            </a:r>
            <a:endParaRPr lang="ko-KR" altLang="en-US" b="0" i="0">
              <a:solidFill>
                <a:srgbClr val="666666"/>
              </a:solidFill>
              <a:effectLst/>
              <a:latin typeface="배달의민족 도현" panose="020B0600000101010101" pitchFamily="50" charset="-127"/>
            </a:endParaRPr>
          </a:p>
          <a:p>
            <a:pPr algn="l" latinLnBrk="1"/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이 질문은 내가 하는 노력이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,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내가 만드는 결과가 누구를 위한 것인가에 대한 질문입니다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저는 강의를 자주 합니다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강의를 하는 사람으로써 제일 먼저 파악해야 하는 것이 바로 대상자를 파악하는 것입니다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대상자가 파악이 되어야 강의의 제목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,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내용 등이 결정되어 효율적인 시간이 될 것입니다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청중을 파악하고 그들의 니즈를 이해하는 것은 강의를 해야 하는 제가 그들에게 주고자 하는 가치가 무엇인가를 정립하고 효율적 시간 투자를 함에 있어서 가장 우선되는 과제일 것입니다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</a:t>
            </a:r>
          </a:p>
          <a:p>
            <a:pPr algn="l" latinLnBrk="1"/>
            <a:endParaRPr lang="en-US" altLang="ko-KR" b="0" i="0">
              <a:solidFill>
                <a:srgbClr val="997000"/>
              </a:solidFill>
              <a:effectLst/>
              <a:latin typeface="배달의민족 도현" panose="020B0600000101010101" pitchFamily="50" charset="-127"/>
            </a:endParaRPr>
          </a:p>
          <a:p>
            <a:pPr algn="l" latinLnBrk="1"/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우리는 매일매일 독특하며 때로는 훌륭한 아이디어들과 제품들이 특허청을 통해 세상에 선을 보이고 있다는 것을 압니다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하지만 그 수많은 특허 중 세상에서 빛을 발하는 것들보다 묻혀져 버리고 없어져 버리는 것들이 엄청나게 많다는 것 또한 우리는 압니다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즉 받아들여지지 못한 아이디어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/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제품들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,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고객이 없는 아이디어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/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제품들은 세상에서 어떤 가치를 가질 수 없게 된다는 것입니다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고객이 없는 당신의 노력과 결과는 그저 자기 만족으로 끝나게 될 것입니다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그 모습은 똑똑한 실패자들의 전형적인 모습입니다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어떤 것이던 고객이 없다면 그 존재는 무의미 하게 됩니다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그렇기에 내가 만들고 싶은 가치는 어떤 고객을 위한 것인가에 대한 판단이 우선되어져야 하는 것입니다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</a:t>
            </a:r>
          </a:p>
          <a:p>
            <a:pPr algn="l" latinLnBrk="1"/>
            <a:br>
              <a:rPr lang="ko-KR" altLang="en-US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</a:br>
            <a:r>
              <a:rPr lang="en-US" altLang="ko-KR" b="1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3. </a:t>
            </a:r>
            <a:r>
              <a:rPr lang="ko-KR" altLang="en-US" b="1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고객이 가치있게 여기는 것은 무엇인가</a:t>
            </a:r>
            <a:r>
              <a:rPr lang="en-US" altLang="ko-KR" b="1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?</a:t>
            </a:r>
            <a:endParaRPr lang="ko-KR" altLang="en-US" b="0" i="0">
              <a:solidFill>
                <a:srgbClr val="666666"/>
              </a:solidFill>
              <a:effectLst/>
              <a:latin typeface="배달의민족 도현" panose="020B0600000101010101" pitchFamily="50" charset="-127"/>
            </a:endParaRPr>
          </a:p>
          <a:p>
            <a:pPr algn="l" latinLnBrk="1"/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2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번 질문을 통해 “나의 고객은 누구인가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?”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가 정립되었다면 이제는 그들이 받아들일 만한 가치는 무엇인가에 대한 이해와 검증이 있어야 합니다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나에게 좋은 것이 좋은 것이 아니라 그들이 좋아야 가치로 인정받을 수 있습니다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내가 제공하는 그 어떤 것을 그들이 받아들이려면 그들이 인정하는 가치로서 제공되어지고 있어야 합니다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</a:t>
            </a:r>
          </a:p>
          <a:p>
            <a:pPr algn="l" latinLnBrk="1"/>
            <a:endParaRPr lang="en-US" altLang="ko-KR" b="0" i="0">
              <a:solidFill>
                <a:srgbClr val="997000"/>
              </a:solidFill>
              <a:effectLst/>
              <a:latin typeface="배달의민족 도현" panose="020B0600000101010101" pitchFamily="50" charset="-127"/>
            </a:endParaRPr>
          </a:p>
          <a:p>
            <a:pPr algn="l" latinLnBrk="1"/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그것은 추측으로 되지 않습니다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내 감각만 가지고 결정할 수 있는 문제도 아닙니다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내 경험만 가지고도 되는 것이 아닙니다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거대했던 글로벌 기업들이 역사속으로 사라져간 이유가 바로 변화하는 고객들의 가치를 파악하고 이해하고 인정하는 나름의 노력 부족이었다 해도 과하지 않을 것입니다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고객이 귀하게 여기는 가치를 제공하지 못하고 있다면 결국에는 외면당하고 업계에서 퇴출당하고 마는 것입니다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</a:t>
            </a:r>
          </a:p>
          <a:p>
            <a:pPr algn="l" latinLnBrk="1"/>
            <a:endParaRPr lang="en-US" altLang="ko-KR" b="0" i="0">
              <a:solidFill>
                <a:srgbClr val="997000"/>
              </a:solidFill>
              <a:effectLst/>
              <a:latin typeface="배달의민족 도현" panose="020B0600000101010101" pitchFamily="50" charset="-127"/>
            </a:endParaRPr>
          </a:p>
          <a:p>
            <a:pPr algn="l" latinLnBrk="1"/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고객에게 물어보아야 합니다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수많은 회사들이 시장조사를 하고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,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설문을 하고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,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통계를 보는 이유가 바로 그것입니다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자녀의 생일에 어떤 선물을 받고 싶은 지 물어보는 이유 또한 바로 그것입니다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이처럼 한 개인도 자신의 공적인 삶과 사적인 삶속에서 존재하는 고객들이 귀하게 여기는 가치를 알고 있어야 합니다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그것이 배우자이던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,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자녀이던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,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동료이던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,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고객이던 그 모두가 인생의 고객이라는 관점에서 그들이 귀하게 여기는 가치를 제공하고 있어야 합니다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그들이 귀하게 여기는 가치를 제공할 수 있을 때 가장으로서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,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직장인으로서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,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기업인으로서 성공의 속도와 크기는 전혀 다르게 느껴질 것입니다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</a:t>
            </a:r>
          </a:p>
          <a:p>
            <a:pPr algn="l" latinLnBrk="1"/>
            <a:br>
              <a:rPr lang="ko-KR" altLang="en-US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</a:br>
            <a:r>
              <a:rPr lang="en-US" altLang="ko-KR" b="1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4. </a:t>
            </a:r>
            <a:r>
              <a:rPr lang="ko-KR" altLang="en-US" b="1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우리의 결과는 무엇인가</a:t>
            </a:r>
            <a:r>
              <a:rPr lang="en-US" altLang="ko-KR" b="1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?</a:t>
            </a:r>
            <a:endParaRPr lang="ko-KR" altLang="en-US" b="0" i="0">
              <a:solidFill>
                <a:srgbClr val="666666"/>
              </a:solidFill>
              <a:effectLst/>
              <a:latin typeface="배달의민족 도현" panose="020B0600000101010101" pitchFamily="50" charset="-127"/>
            </a:endParaRPr>
          </a:p>
          <a:p>
            <a:pPr algn="l" latinLnBrk="1"/>
            <a:r>
              <a:rPr lang="ko-KR" altLang="en-US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  <a:t> 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이 질문은 현실인식의 문제입니다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사명이 목적지를 결정한다면 지금까지의 결과는 이정표로서의 기능을 제시하고 진단을 가능하게 합니다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이것은 바라봄에 있어서 긍정적이 되어서도 부정적이 되어서도 안 됩니다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있는 그대로 정확히 보아야 한다는 것입니다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그런 의미에서 현재의 결과는 어떤 변화가 필요한지를 결정하는 아주 중요한 자산적 가치를 제공하게 될 것입니다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</a:t>
            </a:r>
          </a:p>
          <a:p>
            <a:pPr algn="l" latinLnBrk="1"/>
            <a:endParaRPr lang="en-US" altLang="ko-KR" b="0" i="0">
              <a:solidFill>
                <a:srgbClr val="997000"/>
              </a:solidFill>
              <a:effectLst/>
              <a:latin typeface="배달의민족 도현" panose="020B0600000101010101" pitchFamily="50" charset="-127"/>
            </a:endParaRPr>
          </a:p>
          <a:p>
            <a:pPr algn="l" latinLnBrk="1"/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저는 결과에 대해 가르치며 두가지를 중점으로 이야기합니다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즉 성과와 배움의 문제입니다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한마디로 매출이 성장하든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,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고객 만족도가 높아지든 등의 숫자적 성과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,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즉 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KPI,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핵심 성과 지표에 의해 진단되는 성과입니다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만약 그러한 장부상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,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숫자상의 성과가 없다면 배움이라도 있어야 합니다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배움이라도 있다면 기회가 있기 때문입니다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</a:t>
            </a:r>
          </a:p>
          <a:p>
            <a:pPr algn="l" latinLnBrk="1"/>
            <a:endParaRPr lang="en-US" altLang="ko-KR" b="0" i="0">
              <a:solidFill>
                <a:srgbClr val="997000"/>
              </a:solidFill>
              <a:effectLst/>
              <a:latin typeface="배달의민족 도현" panose="020B0600000101010101" pitchFamily="50" charset="-127"/>
            </a:endParaRPr>
          </a:p>
          <a:p>
            <a:pPr algn="l" latinLnBrk="1"/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성과가 있든 배움이 있든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,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결과는 존재하며 그 결과를 진단함으로 현실인식이 가능하게 됩니다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그리고 그것은 이정표가 되어 방향 설정과 교정의 효율적 판단을 가능하게 할 것입니다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</a:t>
            </a:r>
            <a:endParaRPr lang="ko-KR" altLang="en-US" b="0" i="0">
              <a:solidFill>
                <a:srgbClr val="666666"/>
              </a:solidFill>
              <a:effectLst/>
              <a:latin typeface="배달의민족 도현" panose="020B0600000101010101" pitchFamily="50" charset="-127"/>
            </a:endParaRPr>
          </a:p>
          <a:p>
            <a:pPr algn="l" latinLnBrk="1"/>
            <a:br>
              <a:rPr lang="ko-KR" altLang="en-US" b="0" i="0">
                <a:solidFill>
                  <a:srgbClr val="666666"/>
                </a:solidFill>
                <a:effectLst/>
                <a:latin typeface="배달의민족 도현" panose="020B0600000101010101" pitchFamily="50" charset="-127"/>
              </a:rPr>
            </a:br>
            <a:r>
              <a:rPr lang="en-US" altLang="ko-KR" b="1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5. </a:t>
            </a:r>
            <a:r>
              <a:rPr lang="ko-KR" altLang="en-US" b="1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우리의 계획은 무엇인가</a:t>
            </a:r>
            <a:r>
              <a:rPr lang="en-US" altLang="ko-KR" b="1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?</a:t>
            </a:r>
            <a:endParaRPr lang="ko-KR" altLang="en-US" b="0" i="0">
              <a:solidFill>
                <a:srgbClr val="666666"/>
              </a:solidFill>
              <a:effectLst/>
              <a:latin typeface="배달의민족 도현" panose="020B0600000101010101" pitchFamily="50" charset="-127"/>
            </a:endParaRPr>
          </a:p>
          <a:p>
            <a:pPr algn="l" latinLnBrk="1"/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마지막 질문입니다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“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계획은 무엇입니까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?”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라는 질문은 목적지가 분명하며 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(1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번 질문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)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자신이 제공할 가치를 누릴 고객은 누구이며 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(2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번 질문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)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그들이 원하는 가치가 무엇인가에 대한 생각이 정립되어져 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(3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번 질문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)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있으며 지금까지의 결과를 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(4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번 질문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)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근간으로 한 현재의 체질 진단이 된 기업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/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사람만이 던질 수 있는 질문입니다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만약 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1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번부터 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4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번까지의 질문에 대해 명확한 대답없이 계획이라는 것을 가지게 된다면 그것은 혼란만 더하게 될 것입니다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많은 기업과 사람들이 열심히 하고도 허망한 이유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,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만들어낸 그들의 결과가 제대로 된 가치가 되지 못하는 이유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,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투자된 이러저러한 많은 것들이 낭비되는 이유가 바로 여기에 있습니다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</a:t>
            </a:r>
          </a:p>
          <a:p>
            <a:pPr algn="l" latinLnBrk="1"/>
            <a:endParaRPr lang="en-US" altLang="ko-KR" b="0" i="0">
              <a:solidFill>
                <a:srgbClr val="997000"/>
              </a:solidFill>
              <a:effectLst/>
              <a:latin typeface="배달의민족 도현" panose="020B0600000101010101" pitchFamily="50" charset="-127"/>
            </a:endParaRPr>
          </a:p>
          <a:p>
            <a:pPr algn="l" latinLnBrk="1"/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1~4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번까지의 질문에 답을 가진 기업과 개인에게 “계획이 무엇입니까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?”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라는 질문은 미래를 향한 질문입니다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이 질문을 통해 그들은 오늘 무엇을 하고 있어야 하며 어떤 결과를 기대할 수 있는지에 대한 답을 얻을 수 있습니다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 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이 계획을 근간으로 앞으로 일어나는 일에 대한 생각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,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행동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, </a:t>
            </a:r>
            <a:r>
              <a:rPr lang="ko-KR" altLang="en-US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판단의 기준점과 방향성을 결정짓게 되는 것입니다</a:t>
            </a:r>
            <a:r>
              <a:rPr lang="en-US" altLang="ko-KR" b="0" i="0">
                <a:solidFill>
                  <a:srgbClr val="997000"/>
                </a:solidFill>
                <a:effectLst/>
                <a:latin typeface="배달의민족 도현" panose="020B0600000101010101" pitchFamily="50" charset="-127"/>
              </a:rPr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5B56F-D1BB-4222-B3E0-47D56C1452C5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31603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5B56F-D1BB-4222-B3E0-47D56C1452C5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51690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설명</a:t>
            </a:r>
            <a:r>
              <a:rPr lang="en-US" altLang="ko-KR"/>
              <a:t>]</a:t>
            </a:r>
          </a:p>
          <a:p>
            <a:r>
              <a:rPr lang="ko-KR" altLang="en-US"/>
              <a:t>여행 계획표를 작성할 때 고려해야할 사항들은 무엇들이 있을까요</a:t>
            </a:r>
            <a:r>
              <a:rPr lang="en-US" altLang="ko-KR"/>
              <a:t>?</a:t>
            </a:r>
          </a:p>
          <a:p>
            <a:r>
              <a:rPr lang="ko-KR" altLang="en-US"/>
              <a:t>여행 중 잘 못된 계획이나 준비하지 못한 사항으로 인해 차질을 빚은 경험이 있습니까</a:t>
            </a:r>
            <a:r>
              <a:rPr lang="en-US" altLang="ko-KR"/>
              <a:t>?</a:t>
            </a:r>
          </a:p>
          <a:p>
            <a:r>
              <a:rPr lang="ko-KR" altLang="en-US"/>
              <a:t>여행이 아니더라도 잘못된 질문으로 인해 생각하지 못한 일이 벌어진 적이 있습니까</a:t>
            </a:r>
            <a:r>
              <a:rPr lang="en-US" altLang="ko-KR"/>
              <a:t>?</a:t>
            </a:r>
          </a:p>
          <a:p>
            <a:r>
              <a:rPr lang="ko-KR" altLang="en-US"/>
              <a:t>업무를 잘 하기 위해 해야할 질문들은 무엇이라고 생각합니까</a:t>
            </a:r>
            <a:r>
              <a:rPr lang="en-US" altLang="ko-KR"/>
              <a:t>?</a:t>
            </a:r>
          </a:p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5B56F-D1BB-4222-B3E0-47D56C1452C5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93346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설명</a:t>
            </a:r>
            <a:r>
              <a:rPr lang="en-US" altLang="ko-KR"/>
              <a:t>]</a:t>
            </a:r>
          </a:p>
          <a:p>
            <a:r>
              <a:rPr lang="ko-KR" altLang="en-US"/>
              <a:t>여행을 할 때 계획표를 만들듯이 대부분의 회사에서는 자신의 고객이 회사와 접촉하면서 얻게 되는 경험들을 바탕으로 고객 여정 지도를 제작합니다</a:t>
            </a:r>
            <a:r>
              <a:rPr lang="en-US" altLang="ko-KR"/>
              <a:t>. </a:t>
            </a:r>
            <a:r>
              <a:rPr lang="ko-KR" altLang="en-US"/>
              <a:t>이 고객 여정 지도를 통해 각 구간에 속한 고객들의 니즈를 파악하여 서비스를 개선하거나</a:t>
            </a:r>
            <a:r>
              <a:rPr lang="en-US" altLang="ko-KR"/>
              <a:t>, </a:t>
            </a:r>
            <a:r>
              <a:rPr lang="ko-KR" altLang="en-US"/>
              <a:t>새로운 사업을 도출하기도 합니다</a:t>
            </a:r>
            <a:r>
              <a:rPr lang="en-US" altLang="ko-KR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5B56F-D1BB-4222-B3E0-47D56C1452C5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33926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실습</a:t>
            </a:r>
            <a:r>
              <a:rPr lang="en-US" altLang="ko-KR"/>
              <a:t>]</a:t>
            </a:r>
          </a:p>
          <a:p>
            <a:pPr marL="0" indent="0">
              <a:buFont typeface="+mj-lt"/>
              <a:buNone/>
            </a:pPr>
            <a:r>
              <a:rPr lang="ko-KR" altLang="en-US"/>
              <a:t>쿠팡 상담사가 입사해서 시니어 상담사가 될 때 까지의 상담사 여정 지도를 만들어 봅시다</a:t>
            </a:r>
            <a:r>
              <a:rPr lang="en-US" altLang="ko-KR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/>
              <a:t>3~4</a:t>
            </a:r>
            <a:r>
              <a:rPr lang="ko-KR" altLang="en-US"/>
              <a:t>명을 한 팀으로 구성합니다</a:t>
            </a:r>
            <a:r>
              <a:rPr lang="en-US" altLang="ko-KR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/>
              <a:t>각 단계별로 지식 수준이 어떻게 발전하는지 지식 수준에 대한 그래프를 그립니다</a:t>
            </a:r>
            <a:r>
              <a:rPr lang="en-US" altLang="ko-KR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/>
              <a:t>각 단계별로 행동 특징과 회사에 바라는 점</a:t>
            </a:r>
            <a:r>
              <a:rPr lang="en-US" altLang="ko-KR"/>
              <a:t>, </a:t>
            </a:r>
            <a:r>
              <a:rPr lang="ko-KR" altLang="en-US"/>
              <a:t>교육 시 주의해야할 점을 기록해 봅시다</a:t>
            </a:r>
            <a:r>
              <a:rPr lang="en-US" altLang="ko-KR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/>
              <a:t>그래프에서 지식 발전이 더디거나 이슈가 있는 구간을 파악하고</a:t>
            </a:r>
            <a:r>
              <a:rPr lang="en-US" altLang="ko-KR"/>
              <a:t>, </a:t>
            </a:r>
            <a:r>
              <a:rPr lang="ko-KR" altLang="en-US"/>
              <a:t>각 단계별로 필요한 교육을 논의해 봅시다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5B56F-D1BB-4222-B3E0-47D56C1452C5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25901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/>
              <a:t>[</a:t>
            </a:r>
            <a:r>
              <a:rPr lang="ko-KR" altLang="en-US"/>
              <a:t>설명</a:t>
            </a:r>
            <a:r>
              <a:rPr lang="en-US" altLang="ko-KR"/>
              <a:t>]</a:t>
            </a:r>
          </a:p>
          <a:p>
            <a:r>
              <a:rPr lang="ko-KR" altLang="en-US"/>
              <a:t>두개의 그림 중 어떤 그림이 더 보기에 좋습니까</a:t>
            </a:r>
            <a:r>
              <a:rPr lang="en-US" altLang="ko-KR"/>
              <a:t>?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/>
              <a:t>여러분이 사람이고</a:t>
            </a:r>
            <a:r>
              <a:rPr lang="en-US" altLang="ko-KR"/>
              <a:t>, </a:t>
            </a:r>
            <a:r>
              <a:rPr lang="ko-KR" altLang="en-US"/>
              <a:t>교육생이 사자라면 둘 중에 어떤 그림과 같은 관계를 만들고 싶습니까</a:t>
            </a:r>
            <a:r>
              <a:rPr lang="en-US" altLang="ko-KR"/>
              <a:t>?</a:t>
            </a:r>
          </a:p>
          <a:p>
            <a:r>
              <a:rPr lang="ko-KR" altLang="en-US"/>
              <a:t>두 번째 그림과 같은 상황을 만들기 위해 필요한 것은 무엇이라고 생각합니까</a:t>
            </a:r>
            <a:r>
              <a:rPr lang="en-US" altLang="ko-KR"/>
              <a:t>?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5B56F-D1BB-4222-B3E0-47D56C1452C5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29843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설명</a:t>
            </a:r>
            <a:r>
              <a:rPr lang="en-US" altLang="ko-KR"/>
              <a:t>]</a:t>
            </a:r>
          </a:p>
          <a:p>
            <a:r>
              <a:rPr lang="en-US" altLang="ko-KR"/>
              <a:t>Rapport </a:t>
            </a:r>
            <a:r>
              <a:rPr lang="ko-KR" altLang="en-US"/>
              <a:t>라는 용어를 들어본 적이 있습니까</a:t>
            </a:r>
            <a:r>
              <a:rPr lang="en-US" altLang="ko-KR"/>
              <a:t>?</a:t>
            </a:r>
          </a:p>
          <a:p>
            <a:r>
              <a:rPr lang="ko-KR" altLang="en-US"/>
              <a:t>심리 상담</a:t>
            </a:r>
            <a:r>
              <a:rPr lang="en-US" altLang="ko-KR"/>
              <a:t>, </a:t>
            </a:r>
            <a:r>
              <a:rPr lang="ko-KR" altLang="en-US"/>
              <a:t>교육학에서 자주 사용되는 용어로 의사 소통으로 형성되는 친밀감 또는 신뢰 관계를 의미합니다</a:t>
            </a:r>
            <a:r>
              <a:rPr lang="en-US" altLang="ko-KR"/>
              <a:t>. </a:t>
            </a:r>
            <a:r>
              <a:rPr lang="ko-KR" altLang="en-US"/>
              <a:t>교육생과 </a:t>
            </a:r>
            <a:r>
              <a:rPr lang="en-US" altLang="ko-KR"/>
              <a:t>Rappot</a:t>
            </a:r>
            <a:r>
              <a:rPr lang="ko-KR" altLang="en-US"/>
              <a:t>를 형성하게 되면 학습 효과가 크게 증대 될 수 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교육생들과 </a:t>
            </a:r>
            <a:r>
              <a:rPr lang="en-US" altLang="ko-KR"/>
              <a:t>Rapport</a:t>
            </a:r>
            <a:r>
              <a:rPr lang="ko-KR" altLang="en-US"/>
              <a:t>를 형성하기 위해서는 어떠한 노력들이 필요하다고 생각합니까</a:t>
            </a:r>
            <a:r>
              <a:rPr lang="en-US" altLang="ko-KR"/>
              <a:t>?</a:t>
            </a:r>
          </a:p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5B56F-D1BB-4222-B3E0-47D56C1452C5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6828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설명</a:t>
            </a:r>
            <a:r>
              <a:rPr lang="en-US" altLang="ko-KR"/>
              <a:t>]</a:t>
            </a:r>
          </a:p>
          <a:p>
            <a:r>
              <a:rPr lang="ko-KR" altLang="en-US"/>
              <a:t>여기 설명된 내용들 이외에도 </a:t>
            </a:r>
            <a:r>
              <a:rPr lang="en-US" altLang="ko-KR"/>
              <a:t>Rapport</a:t>
            </a:r>
            <a:r>
              <a:rPr lang="ko-KR" altLang="en-US"/>
              <a:t>를 형성하기 위해서는 많은 방법들이 있습니다</a:t>
            </a:r>
            <a:r>
              <a:rPr lang="en-US" altLang="ko-KR"/>
              <a:t>.</a:t>
            </a:r>
          </a:p>
          <a:p>
            <a:r>
              <a:rPr lang="ko-KR" altLang="en-US"/>
              <a:t>지금 당장 이것들을 수행하지 못하도 괜찮습니다</a:t>
            </a:r>
            <a:r>
              <a:rPr lang="en-US" altLang="ko-KR"/>
              <a:t>.</a:t>
            </a:r>
          </a:p>
          <a:p>
            <a:r>
              <a:rPr lang="en-US" altLang="ko-KR"/>
              <a:t>5</a:t>
            </a:r>
            <a:r>
              <a:rPr lang="ko-KR" altLang="en-US"/>
              <a:t>일간의 교육을 통해 우리는 쿠팡의 교육 과정을 지도하는 방법을 배우고 동시에 교육생들과 </a:t>
            </a:r>
            <a:r>
              <a:rPr lang="en-US" altLang="ko-KR"/>
              <a:t>Rapport</a:t>
            </a:r>
            <a:r>
              <a:rPr lang="ko-KR" altLang="en-US"/>
              <a:t>를 형성하는 여러가지 방법들을 배우게 될 것입니다</a:t>
            </a:r>
            <a:r>
              <a:rPr lang="en-US" altLang="ko-KR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5B56F-D1BB-4222-B3E0-47D56C1452C5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8408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5B56F-D1BB-4222-B3E0-47D56C1452C5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61111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설명</a:t>
            </a:r>
            <a:r>
              <a:rPr lang="en-US" altLang="ko-KR"/>
              <a:t>]</a:t>
            </a:r>
          </a:p>
          <a:p>
            <a:r>
              <a:rPr lang="ko-KR" altLang="en-US"/>
              <a:t>여러분이 생각하는 좋은 강사는 어떤 사람입니까</a:t>
            </a:r>
            <a:r>
              <a:rPr lang="en-US" altLang="ko-KR"/>
              <a:t>?</a:t>
            </a:r>
          </a:p>
          <a:p>
            <a:r>
              <a:rPr lang="en-US" altLang="ko-KR"/>
              <a:t>(</a:t>
            </a:r>
            <a:r>
              <a:rPr lang="ko-KR" altLang="en-US"/>
              <a:t>롤 모델</a:t>
            </a:r>
            <a:r>
              <a:rPr lang="en-US" altLang="ko-KR"/>
              <a:t>, </a:t>
            </a:r>
            <a:r>
              <a:rPr lang="ko-KR" altLang="en-US"/>
              <a:t>역량</a:t>
            </a:r>
            <a:r>
              <a:rPr lang="en-US" altLang="ko-KR"/>
              <a:t>, </a:t>
            </a:r>
            <a:r>
              <a:rPr lang="ko-KR" altLang="en-US"/>
              <a:t>강의 방식 등 다양한 대답이 나올 수 있도록 여러 형태로 바꾸어 질문합니다</a:t>
            </a:r>
            <a:r>
              <a:rPr lang="en-US" altLang="ko-KR"/>
              <a:t>.)</a:t>
            </a:r>
          </a:p>
          <a:p>
            <a:endParaRPr lang="en-US" altLang="ko-KR"/>
          </a:p>
          <a:p>
            <a:r>
              <a:rPr lang="ko-KR" altLang="en-US"/>
              <a:t>좋은 강사가 되기 위해 갖추어야 할 자질은 무엇이라고 생각합니까</a:t>
            </a:r>
            <a:r>
              <a:rPr lang="en-US" altLang="ko-KR"/>
              <a:t>?</a:t>
            </a:r>
          </a:p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5B56F-D1BB-4222-B3E0-47D56C1452C5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92379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설명</a:t>
            </a:r>
            <a:r>
              <a:rPr lang="en-US" altLang="ko-KR"/>
              <a:t>]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정서적 공유</a:t>
            </a:r>
            <a:b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</a:br>
            <a:r>
              <a:rPr lang="ko-KR" altLang="en-US" sz="1000">
                <a:solidFill>
                  <a:srgbClr val="FF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정서적으로 함께한다</a:t>
            </a:r>
            <a:r>
              <a:rPr lang="en-US" altLang="ko-KR" sz="1000">
                <a:solidFill>
                  <a:srgbClr val="FF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(presem)</a:t>
            </a:r>
            <a:r>
              <a:rPr lang="ko-KR" altLang="en-US" sz="1000">
                <a:solidFill>
                  <a:srgbClr val="FF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는 것은 다를 사람이 경험하는 기쁨과 고통에 의해 마음이 움직인다는 의미이다</a:t>
            </a:r>
            <a:r>
              <a:rPr lang="en-US" altLang="ko-KR" sz="1000">
                <a:solidFill>
                  <a:srgbClr val="FF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000">
                <a:solidFill>
                  <a:srgbClr val="FF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지도자가 자신의 감정을 자각하고 표현할 때</a:t>
            </a:r>
            <a:r>
              <a:rPr lang="en-US" altLang="ko-KR" sz="1000">
                <a:solidFill>
                  <a:srgbClr val="FF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1000">
                <a:solidFill>
                  <a:srgbClr val="FF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그들은 다른 사람과 정서적으로 더 깊게 얽히게 된다</a:t>
            </a:r>
            <a:r>
              <a:rPr lang="en-US" altLang="ko-KR" sz="1000">
                <a:solidFill>
                  <a:srgbClr val="FF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000">
                <a:solidFill>
                  <a:srgbClr val="FF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지도자가 이러한 자신의 경험에 주의를 기울일 수 있는 능력이 있다면</a:t>
            </a:r>
            <a:r>
              <a:rPr lang="en-US" altLang="ko-KR" sz="1000">
                <a:solidFill>
                  <a:srgbClr val="FF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1000">
                <a:solidFill>
                  <a:srgbClr val="FF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그들의 구성원은 좀더 잘 공감하고 그들과 마음을 함께 나눌 수 있을 것이다</a:t>
            </a:r>
            <a:r>
              <a:rPr lang="en-US" altLang="ko-KR" sz="1000">
                <a:solidFill>
                  <a:srgbClr val="FF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000">
                <a:solidFill>
                  <a:srgbClr val="FF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또한 함께한다는 것은 </a:t>
            </a:r>
            <a:r>
              <a:rPr lang="en-US" altLang="ko-KR" sz="1000">
                <a:solidFill>
                  <a:srgbClr val="FF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‘</a:t>
            </a:r>
            <a:r>
              <a:rPr lang="ko-KR" altLang="en-US" sz="1000">
                <a:solidFill>
                  <a:srgbClr val="FF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구성원의 곁을 지킨다</a:t>
            </a:r>
            <a:r>
              <a:rPr lang="en-US" altLang="ko-KR" sz="1000">
                <a:solidFill>
                  <a:srgbClr val="FF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’ </a:t>
            </a:r>
            <a:r>
              <a:rPr lang="ko-KR" altLang="en-US" sz="1000">
                <a:solidFill>
                  <a:srgbClr val="FF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는 것인데</a:t>
            </a:r>
            <a:r>
              <a:rPr lang="en-US" altLang="ko-KR" sz="1000">
                <a:solidFill>
                  <a:srgbClr val="FF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1000">
                <a:solidFill>
                  <a:srgbClr val="FF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이는 구성원들을 진정으로 돌보고 그들의 심리적 세게에 들어가고자 하는 의지가 있음 을 의미한다</a:t>
            </a:r>
            <a:r>
              <a:rPr lang="en-US" altLang="ko-KR" sz="1000">
                <a:solidFill>
                  <a:srgbClr val="FF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000">
                <a:solidFill>
                  <a:srgbClr val="FF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함께 한다는 것은 교육에 참석했을 때 잡념에 빠지거나 다른 일에 몰두하지 않고</a:t>
            </a:r>
            <a:r>
              <a:rPr lang="en-US" altLang="ko-KR" sz="1000">
                <a:solidFill>
                  <a:srgbClr val="FF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1000">
                <a:solidFill>
                  <a:srgbClr val="FF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집단 내에서 자신이 겪는 경험과 반응에 대해 개방적인 태도를 취한다는 것을 의미한다</a:t>
            </a:r>
            <a:r>
              <a:rPr lang="en-US" altLang="ko-KR" sz="1000">
                <a:solidFill>
                  <a:srgbClr val="FF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</a:t>
            </a:r>
            <a:br>
              <a:rPr lang="en-US" altLang="ko-KR" sz="1000">
                <a:solidFill>
                  <a:srgbClr val="FF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</a:br>
            <a:endParaRPr lang="en-US" altLang="ko-KR" sz="1000">
              <a:solidFill>
                <a:srgbClr val="FF0000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타인에게 끼치는 영향에 대한 인식</a:t>
            </a:r>
            <a:b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</a:b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개인적 힘이란 자신이 타인에게 끼치는 영향에 대해 인식하는 것 그리고 자신감과 관련이 있다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강사가 자신의 삶에서 일종의 힘을 느끼지 못한다면 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(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또는 자신의 운명에 대한 통제력을 느끼지 못하다면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)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교육생을 임파위링하기는 어렵다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즉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자신에게 없는 것을 다른 사람에게 제공하기는 불가능하다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여기에서 강조할 것은 힘 이 다른 사람을 지배하거나 착취하는 것이 아니라는 점이다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이와 같은 것은 힘을 남용 하는 것이다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진정으로 힘 있는 지도자는 교육생들의 의존성을 높이기 위해서가 아니라 그들이 지금까지 사용하지 않고 있던 잠재력을 깨닫도록 돕기 위해서 영향력을 행사한다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집단지도자는 구성원들을 자신의 동료로 받아들임으로써 그들을 임파위링 한다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교육생들이 위험을 감수하면서 변화하려고 노력한다면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그러한 과정에서의 공은 대부분 그들에게 돌아가야 힌다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</a:t>
            </a:r>
            <a:b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</a:br>
            <a:endParaRPr lang="en-US" altLang="ko-KR" sz="12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상호 작용에서 보여지는 용기</a:t>
            </a:r>
            <a:b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</a:b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효과적인 강사는 구성원들과 하는 상호작용에서 용기를 보여 주며 강사라는 특수한 역할 뒤로 자신을 숨기지 않는다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강사들은 집단에서 용기 있 는 태도를 보여 준다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이를 위해 그들은 위험을 감수하고 실수를 인정하며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취약함을 드러낼 줄도 알고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존중하는 태도로 구성원들에게 기꺼이 도전하며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통찰과 신념에 따라 행동하고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교육 과정에 대한 자신의 생각과 감정을 구성원들과 나누며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자신이 가지고 있는 힘을 구성원과 공유할 의지를 보여 준다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강사들은 자신이 불완전함에도 불구하고 삶과 행동에 대해 나름대로의 입장을 취하는 것을 보여 줌으로써 구성원들에게 중요한 학습 경험을 제공할 수 있다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구성원들이 자신에게 익숙하고 안전하게 느껴 지는 삶의 패턴을 버리고 변화하려고 할 때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그들은 자주 불안하고 두렵다는 말을 한다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집단지도자들은 때때로 느껴지는 두러움에도 불구하고 앞으로 나아가려는 행동을 보여 줌으로써 변화하고자 하는 자신의 의지를 구성원들에게 보어 줄 수 있다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</a:t>
            </a:r>
            <a:b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</a:br>
            <a:endParaRPr lang="en-US" altLang="ko-KR" sz="12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자신을 정직하게 바라보려는 의지</a:t>
            </a:r>
            <a:b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</a:b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강사에게 가장 핵심적인 과제 중 하나는 구성원의 자기탐구를 촉진하는 것이다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자각을 위해서는 자기 자신을 징직하게 바라보려는 의지가 필요하며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강사는 자기 스스로에게 질문을 던지려는 의지가 있음을 보여 주어야 한다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이와 같은 중요한 특성은 자신의 욕구와 동기뿐만 아니라 개인적인 갈등과 문제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방어기제와 취약한 지점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미해결 과제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그리고 이러한 점들이 집단 과정에 끼칠 수 있는 잠재적 영향에 대해 인식하는 것을 의미한다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자각을 중시하는 지도자는 집단 환경에서 자신이나 다른 구성원들을 향해 발생하는 전이에 대해 치료적으로 작업할 수 있다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그뿐 아니라 집단지도자들은 자신의 취약한 부분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특히 자신의 역전이를 자각하고 그에 따라 나타나는 자신의 반응에 대해 책임을 진다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</a:t>
            </a:r>
            <a:b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</a:br>
            <a:endParaRPr lang="en-US" altLang="ko-KR" sz="12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타인의 성장에 대한 관심</a:t>
            </a:r>
            <a:b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</a:b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집단지도자에게 필요한 가장 충요한 특성 중 하나는 타인의 안녕과 성장에 대한 진실된 관심이다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진실함은 솔직함과 관련이 있는데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진실하다는 것은 다른 사람이 듣기 힘들 수도 있는 것을 직접적으로 알려 주는 것을 의미한다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강사에게 있어서 돌본다고 하는 것은 구성원들로 하여금 그들이 부정하고 있는 삶의 일부분을 들여다보고 집단에서 진실하지 않은 행동을 지양하도록 돕는 것을 의미한다 강사가 효과적인 피드백을 제공하기 위해서는 구성원의 이익이 가장 중요하다 는 관점을 나타내는 진실함과 존중의 태도를 갖추어야 한다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진정성은 진실함의 한 형태이다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진정성 있는 집단지도자는 겉치레가 없고 방어나 위장 뒤에 숨지 않는다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진정성은 자신을 적절하게 개발하고 집단에서 발생하는 일에 대한 자신의 느낌과 반응을 공유하는 것을 포함한다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진정성은 스쳐 가는 생각이나 지각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감정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상상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반응 등을 무분별하게 공유하는 것을 의미하지 않는다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에컨대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지도자가 집단 초기에 특정 구성원에게 마음이 끌렸다고 해서 그것을 첫 회기에 개방하는 것은 지혜롭지 못하다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＇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기다림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＇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이 곧 진정성이 없다는 것을 의미하지 않는다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오히려 그러한 태도는 집단의 초기 단계에서 내담자를 존중하고 배려하는 것이다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</a:t>
            </a:r>
            <a:b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</a:br>
            <a:endParaRPr lang="en-US" altLang="ko-KR" sz="12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교육에 대한 신뢰와 열정</a:t>
            </a:r>
            <a:b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</a:b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교육 과정의 가치에 대한 강사의 깊은 신뢰는 교육의 성공에 필수적 요소이다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집단의 개입이 변화를 촉진할 것이라는 믿음 없이 단지 주어졌기 때문에 교육을 진행하는 강사가 구성원들을 고무할 가능성은 낮다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집단지도자가 집단 경험의 가치에 대해 열정이 없는데 구성원들은 집단 경험이 자신들에게 가치가 있을 것이라고 어떻게 믿을 수 있겠는가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?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강사가 집단에서 불러일으키는 열정은 전염성이 있다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집단지도자가 열정을 발휘할 때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그들이 반복해서 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'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무미건조한 교육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'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을 이끌 가능성은 낮다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강사는 자신의 일을 즐기고 구성원들과 함께 하는 것을 좋아한다는 것을 보여 줄 필요가 있다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강사의 열정이 결여될 때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그것은 교육에 반영되어 구성원들의 참여 동기가 낮아질 뿐 아니라 교육에서 중요한 작업을 할 능력 또한 저하된다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&lt;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집단상담의 이론과 실제 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- Gerald corey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저  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학지사 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40p)</a:t>
            </a:r>
            <a:endParaRPr lang="ko-KR" altLang="en-US" sz="12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5B56F-D1BB-4222-B3E0-47D56C1452C5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8928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설명</a:t>
            </a:r>
            <a:r>
              <a:rPr lang="en-US" altLang="ko-KR"/>
              <a:t>]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신입 강사들이 자신의 마음속에서 일어나는 내적 대화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(intemal dialogue)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를 알고 검토하는 것이 필수적이다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심지어 가장 유능한 강사들도 왜곡되거나 부정적인 생각에 빠지곤 한다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자기패배적인 사고 패턴을 완전히 지워 버리는 것은 쉽지 않다 그러나 우리가 가지는 생각 밑에 있는 가정과 우리가 도달하는 결론에 대해 의문을 가지고 되돌아보는 것은 가능하다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인지상담자들이 알려 주었듯이 우리의 핵심적 사고에 지속적으로 도전하려는 태도를 가짐으로씨 우리는 부정적인 내적 대화에 의해 통제당하지 않을 수있다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신입 강사들은 자신에 대한 의심과 염려가 자연스러운 일이라는 사실을 받아들이 는 것이 바랍직하다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적정한 수준의 불안은 오히려 도움이 된다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왜냐하면 어느 정도의 불안이 있어야만 자신에 대한 솔직한 평가를 할 수 있기 때문이다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그러나 불안이 스스로 증폭되고 우리를 무력하게 만들 정도로 커진다면 그것은 비생산적이다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신입 강사들이 자신의 마음속에 생기는 질문과 염려를 말로 표현하고 교육 집단에서 탐색 해 보는 것은 도움이 된다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이렇게 표현하고 탐색해 봄으로써 불필요한 불안을 경감 시킬 수 있는데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그 이유는 그들의 동료들도 비슷한 염려를 가지고 있다는 것을 발견하게 되기 때문이다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학생들은 자주 그들의 동료들이 자신보다 휠씬 더 많은 지식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기술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능력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자신감을 가지고 있는 것처림 보인다고 말한다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불안과 부적절감을 표현하는 동료들의 이야기를 들으면 학생들은 자신감이 아주 많아 보였던 동료들도 자기에 대한 회의로 고민하고 있음을 알게 될 것이다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자신이 가진 염려에 대해 동료들이나 매니저와 함께 탐색함으로써 신입 강사들은 현실적인 불안과 비현실적인 불안을 구별하고 그 결과로 비효율적이고 불필요한 불안을 줄일 수 있을 것이다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</a:t>
            </a: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5B56F-D1BB-4222-B3E0-47D56C1452C5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11002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설명</a:t>
            </a:r>
            <a:r>
              <a:rPr lang="en-US" altLang="ko-KR"/>
              <a:t>]</a:t>
            </a:r>
          </a:p>
          <a:p>
            <a:r>
              <a:rPr lang="ko-KR" altLang="en-US"/>
              <a:t>교육 중에 강사 개인에 대한 사적인 이야기</a:t>
            </a:r>
            <a:r>
              <a:rPr lang="en-US" altLang="ko-KR"/>
              <a:t>, </a:t>
            </a:r>
            <a:r>
              <a:rPr lang="ko-KR" altLang="en-US"/>
              <a:t>사례</a:t>
            </a:r>
            <a:r>
              <a:rPr lang="en-US" altLang="ko-KR"/>
              <a:t>, </a:t>
            </a:r>
            <a:r>
              <a:rPr lang="ko-KR" altLang="en-US"/>
              <a:t>예시</a:t>
            </a:r>
            <a:r>
              <a:rPr lang="en-US" altLang="ko-KR"/>
              <a:t>, </a:t>
            </a:r>
            <a:r>
              <a:rPr lang="ko-KR" altLang="en-US"/>
              <a:t>비유등을 사용하는 것이 올바르다고 생각합니까</a:t>
            </a:r>
            <a:r>
              <a:rPr lang="en-US" altLang="ko-KR"/>
              <a:t>?</a:t>
            </a:r>
          </a:p>
          <a:p>
            <a:endParaRPr lang="en-US" altLang="ko-KR"/>
          </a:p>
          <a:p>
            <a:r>
              <a:rPr lang="ko-KR" altLang="en-US"/>
              <a:t>너무 적은 강사의 자기 개방으로 발생할 수 있는 문제들은 무엇이 있다고 생각합니까</a:t>
            </a:r>
            <a:r>
              <a:rPr lang="en-US" altLang="ko-KR"/>
              <a:t>?</a:t>
            </a:r>
          </a:p>
          <a:p>
            <a:endParaRPr lang="en-US" altLang="ko-KR"/>
          </a:p>
          <a:p>
            <a:r>
              <a:rPr lang="ko-KR" altLang="en-US"/>
              <a:t>너무 많은 강사의 자기 개방으로 발생할 수 있는 문제들은 무엇이 있다고 생각합니까</a:t>
            </a:r>
            <a:r>
              <a:rPr lang="en-US" altLang="ko-KR"/>
              <a:t>?</a:t>
            </a:r>
          </a:p>
          <a:p>
            <a:endParaRPr lang="en-US" altLang="ko-KR"/>
          </a:p>
          <a:p>
            <a:r>
              <a:rPr lang="ko-KR" altLang="en-US"/>
              <a:t>처음 교육을 진행하게되면 교육생과의 </a:t>
            </a:r>
            <a:r>
              <a:rPr lang="en-US" altLang="ko-KR"/>
              <a:t>Rapport </a:t>
            </a:r>
            <a:r>
              <a:rPr lang="ko-KR" altLang="en-US"/>
              <a:t>형성을 위해 자기 개방의 정도를 고민할 수 있습니다</a:t>
            </a:r>
            <a:r>
              <a:rPr lang="en-US" altLang="ko-KR"/>
              <a:t>. </a:t>
            </a:r>
            <a:r>
              <a:rPr lang="ko-KR" altLang="en-US"/>
              <a:t>무엇을 언제 어떻게 얼마나 개방하는게 좋을 지에 대해 논의해봅시다</a:t>
            </a:r>
            <a:r>
              <a:rPr lang="en-US" altLang="ko-KR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5B56F-D1BB-4222-B3E0-47D56C1452C5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37642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설명</a:t>
            </a:r>
            <a:r>
              <a:rPr lang="en-US" altLang="ko-KR"/>
              <a:t>]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너무 적은 자기 개방이 문제가 되는 이유는 무엇입니까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?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교육생들의  교육 성과 저하</a:t>
            </a:r>
            <a:endParaRPr lang="en-US" altLang="ko-KR" sz="12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쿠팡에 대한 권위적인 이미지 부여</a:t>
            </a:r>
            <a:endParaRPr lang="en-US" altLang="ko-KR" sz="12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올바른 커뮤니케이션에 대한 방해</a:t>
            </a:r>
            <a:endParaRPr lang="en-US" altLang="ko-KR" sz="12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강사가 자기 개방을 적게 하려고 하는 이유는 무엇입니까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?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역할 뒤에서 숨어서 안전하고 싶은 욕심</a:t>
            </a:r>
            <a:endParaRPr lang="en-US" altLang="ko-KR" sz="12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자신의 전문성을 인정받지 못하는 것에 대한 불안</a:t>
            </a:r>
            <a:endParaRPr lang="en-US" altLang="ko-KR" sz="12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강사 교육생 관계의 권위 유지</a:t>
            </a:r>
            <a:endParaRPr lang="en-US" altLang="ko-KR" sz="12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자기 개방의 폭을 넓히려면 어떻게 해야 합니까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?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쿠팡 업무와 관련된 사례를 발굴하기</a:t>
            </a:r>
            <a:endParaRPr lang="en-US" altLang="ko-KR" sz="12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쿠팡에 대한 긍정적인 이미지를 부여할 수 있는 일상 공유</a:t>
            </a:r>
            <a:endParaRPr lang="en-US" altLang="ko-KR" sz="12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교육생의 자기 개방에 대한 공감 및 부연 설명</a:t>
            </a:r>
            <a:endParaRPr lang="en-US" altLang="ko-KR" sz="12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457200" lvl="1" indent="0">
              <a:lnSpc>
                <a:spcPct val="150000"/>
              </a:lnSpc>
              <a:buFont typeface="Arial" panose="020B0604020202020204" pitchFamily="34" charset="0"/>
              <a:buNone/>
            </a:pPr>
            <a:b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</a:b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만약 당신이 상담자에게 기대되는 전형적인 역할을 유지하고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당신의 전문가적 태도 뒤에서 신비로운 사람으로 남으러고 한다면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당신은 집단에 서 자신의 개인적 정체성을 원고 자신에 대해 기의 알러 주지 않으려고 할 것이다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상담 자가 하나의 인격체로서 기능하기보다는 어면 역할 뒤에 숨으려고 하는 이유는 여러 가지이다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그중 하나는 자신의 전문성이 내담자들에게 인정받지 못할 수도 있다는 두 려움일 것이다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또 다른 이유는 내담자들과 거리를 두기나 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'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의사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-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환자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'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의 관계를 유지 하려는 욕구 때문일 수도 있다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당신의 개인적 삶을 공유하고 싶지 않은 마음 외에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당신은 집단에서 경험하는 느김 이나 특정 구성원으로부터 받는 영향에 대해 개방하기를 주저할 수도 있다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집단에서 발생하는 일에 대한 자신의 반웅을 공유하지 않는 방법으로 당신은 기리를 유지한 채 관찰만 하는 방식으로만 개입할 수도 있다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그리한 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'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전문적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'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냉담함은 사적인 차원의 발언을 하지 않고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해석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제안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질문을 하면서 단순히 집단의 호름을 조정하거나 구조화 본환동을 하나석 하나석 진행하거나 주체를 명료화하는 진행 방법윤 동해 표현된다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내 생각에 파음을 나누는 가장 효과적인 방법은 현재 집단에서 발생하는 일에 관한 느낌을 개방하는 것이다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예컨대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대부분의 구성원이 집단 참여에 대한 동기가 낮고 회 기에 집중하지 않는 것처럼 지속적으로 느껴질 때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당신은 집단에 생기가 돌게 하려면 구성원들의 도움 없이 혼자서 노력해야 할 것 같은 부담을 느낄 것이다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당신이 이와 같 은 낮은 동기로 인해 어떤 영항을 받는지에 대해 개방적인 태도를 취하는 것은 대체로 적절하면서 효과적이다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</a:t>
            </a: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5B56F-D1BB-4222-B3E0-47D56C1452C5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7669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설명</a:t>
            </a:r>
            <a:r>
              <a:rPr lang="en-US" altLang="ko-KR"/>
              <a:t>]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너무 많은 자기 개방이 문제가 되는 이유는 무엇입니까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?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교육생들의  교육 성과 저하</a:t>
            </a:r>
            <a:endParaRPr lang="en-US" altLang="ko-KR" sz="12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쿠팡에 대한 산만한 이미지 부여</a:t>
            </a:r>
            <a:endParaRPr lang="en-US" altLang="ko-KR" sz="12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올바른 커뮤니케이션에 대한 방해</a:t>
            </a:r>
            <a:b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</a:br>
            <a:endParaRPr lang="en-US" altLang="ko-KR" sz="12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강사가 자기 개방을 많이 하려고 하는 이유는 무엇입니까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?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역할에 대한 인정 욕구</a:t>
            </a:r>
            <a:endParaRPr lang="en-US" altLang="ko-KR" sz="12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자신의 전문성을 인정받지 못하는 것에 대한 불안</a:t>
            </a:r>
            <a:endParaRPr lang="en-US" altLang="ko-KR" sz="12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넓은 자기 개방이 교육에 효과적이라는 오해</a:t>
            </a:r>
            <a:endParaRPr lang="en-US" altLang="ko-KR" sz="12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교육생들의 불필요한 요청에 부응하기 위해</a:t>
            </a:r>
            <a:b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</a:br>
            <a:endParaRPr lang="en-US" altLang="ko-KR" sz="12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자기 개방의 폭을 줄이려면 어떻게 해야 합니까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?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쿠팡 업무와 관련된 사례를 발굴하기</a:t>
            </a:r>
            <a:endParaRPr lang="en-US" altLang="ko-KR" sz="12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쿠팡에 대한 긍정적인 이미지를 부여할 수 있는 포인트 정리</a:t>
            </a:r>
            <a:endParaRPr lang="en-US" altLang="ko-KR" sz="12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교육생의 자기 개방에 대한 공감 및 부연 설명</a:t>
            </a:r>
            <a:endParaRPr lang="en-US" altLang="ko-KR" sz="12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457200" lvl="1" indent="0">
              <a:lnSpc>
                <a:spcPct val="150000"/>
              </a:lnSpc>
              <a:buFont typeface="Arial" panose="020B0604020202020204" pitchFamily="34" charset="0"/>
              <a:buNone/>
            </a:pPr>
            <a:b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</a:b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너무 적은 개방과는 반대 극단에서 발생할 수 있는 문제는 지나치게 많은 자기개방이다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대부분의 초보 강사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(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그리고 경험 있는 강사 중에서도 많은 사람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)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는 구성원들에게 인정받고 수용되고 싶은 강한 욕구를 가지고 있다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그들은 자신이 구성원들처럼 한 인간일 뿐이라는 사실을 중명하기라도 하듯 아주 사적인 사실을 공유함으로써 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'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집단의 일원으로서 해야 할 의무를 다하려는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'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실수를 범하기 쉽다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적절한 자기개방과 부적절한 자기개방 사이에는 미묘한 차이가 있다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'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가능한 한 많은 자기개방을 할수록 더 효과적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'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이라고 가정하는 것은 잘못이다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자기를 개방할 때에는 당신이 자기개방을 하는 이유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구성원들이 자기개방에 대해 준비된 정도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아주 구체적이고 사적인 내용을 공유함으로써 발생할 결과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그리고 당신의 자기개방이 집단 과정의 지금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-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여기에 관련되는 정도 등을 함께 고려해야한다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</a:t>
            </a:r>
          </a:p>
          <a:p>
            <a:pPr marL="457200" lvl="1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12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457200" lvl="1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당신은 자신에 대해 더 많이 개방함으로써 집단의 압력에 굴복하고 싶은 유혹을 받기도 한다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구성원들은 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＂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우리는 당신에 대해 잘 알지 못해요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우리에게 당신 자신에 대 해 좀 더 알려 줄 수 있어요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?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우리는 우리 자신에 대해서는 이야기를 했어요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이제 당신도 우리처럼 좀 더 개방하면 좋겠어요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＂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라고 말하기도 한다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구성원들은 지도자인 당신에게 집단의 일원이 되라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'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는 압력을 휠씬 미묘하지만 그렇다고 약하지도 않은 방식으로 가한다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당신은 전문가라는 공적 역할 속에서 길을 잃지 않고 친구 또는 동료 구성원처럼 다가가기 위해 지나친 노력을 기울이기도 한다 당신이 개인적인 문제를 구성원 들과 나누려고 할 경우에는 그러한 공유가 구성원들에게 도움이 되어야 한다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이리한 문제를 탐색하려면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(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그리고 당신에게 도움이 되게끔 하려면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)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그것을 당신이 구성원으로 참여하는 집단에서 다루어야 한다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집단을 지도한다는 것은 매우 힘든 일인데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당신이 자신의 역할과 기능을 구성원들의 것과 혼동하게 되면 휠씬 더 힘들어진다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</a:t>
            </a: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5B56F-D1BB-4222-B3E0-47D56C1452C5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49466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설명</a:t>
            </a:r>
            <a:r>
              <a:rPr lang="en-US" altLang="ko-KR"/>
              <a:t>]</a:t>
            </a:r>
            <a:r>
              <a:rPr lang="ko-KR" altLang="en-US"/>
              <a:t> </a:t>
            </a:r>
            <a:endParaRPr lang="en-US" altLang="ko-KR"/>
          </a:p>
          <a:p>
            <a:r>
              <a:rPr lang="ko-KR" altLang="en-US"/>
              <a:t>적절하고 촉진적인 자기개방은 집단운영의 기술 중에서 핵심적인 측면이다</a:t>
            </a:r>
            <a:r>
              <a:rPr lang="en-US" altLang="ko-KR"/>
              <a:t>. </a:t>
            </a:r>
            <a:r>
              <a:rPr lang="ko-KR" altLang="en-US"/>
              <a:t>당신 자신이 보다 인간적인 사람이 되기 위해서 또는 참여하고 있다는 점을 강조하기 위해서 자신의 과거나 사생활의 구체적인 사실을 개방할 필 요는 없다</a:t>
            </a:r>
            <a:r>
              <a:rPr lang="en-US" altLang="ko-KR"/>
              <a:t>. </a:t>
            </a:r>
            <a:r>
              <a:rPr lang="ko-KR" altLang="en-US"/>
              <a:t>몇 마디의 말로도 많은 것을 전달할 수 있으며 접촉</a:t>
            </a:r>
            <a:r>
              <a:rPr lang="en-US" altLang="ko-KR"/>
              <a:t>, </a:t>
            </a:r>
            <a:r>
              <a:rPr lang="ko-KR" altLang="en-US"/>
              <a:t>시선</a:t>
            </a:r>
            <a:r>
              <a:rPr lang="en-US" altLang="ko-KR"/>
              <a:t>, </a:t>
            </a:r>
            <a:r>
              <a:rPr lang="ko-KR" altLang="en-US"/>
              <a:t>몸짓과 같은 비언어적인 메시지들도 동일시나 이해와 같은 감정을 전달할 수 있다</a:t>
            </a:r>
            <a:r>
              <a:rPr lang="en-US" altLang="ko-KR"/>
              <a:t>. </a:t>
            </a:r>
            <a:r>
              <a:rPr lang="ko-KR" altLang="en-US"/>
              <a:t>적절한 개방을 위해서는 교육생에 초점을 맞추어야 한다</a:t>
            </a:r>
            <a:r>
              <a:rPr lang="en-US" altLang="ko-KR"/>
              <a:t>. </a:t>
            </a:r>
            <a:r>
              <a:rPr lang="ko-KR" altLang="en-US"/>
              <a:t>그리고 인위적인 방법을 통해 교육생의 마음을 열고자 해서는 안 된다</a:t>
            </a:r>
            <a:r>
              <a:rPr lang="en-US" altLang="ko-KR"/>
              <a:t>. </a:t>
            </a:r>
            <a:r>
              <a:rPr lang="ko-KR" altLang="en-US"/>
              <a:t>사람들이 반응하는 방법에 대한 당신의 민감성은 적절한 자기 개방의 시점과 가치에 대해 많은 것을 알려 준다</a:t>
            </a:r>
            <a:r>
              <a:rPr lang="en-US" altLang="ko-KR"/>
              <a:t>., </a:t>
            </a:r>
            <a:r>
              <a:rPr lang="ko-KR" altLang="en-US"/>
              <a:t>시간적 적절성은 정말 중요한 요소이다</a:t>
            </a:r>
            <a:r>
              <a:rPr lang="en-US" altLang="ko-KR"/>
              <a:t>. </a:t>
            </a:r>
            <a:r>
              <a:rPr lang="ko-KR" altLang="en-US"/>
              <a:t>집단 초기에는 부적절할 수 있는 자기개방도 후기에는 매우 유용할 수 있다</a:t>
            </a:r>
            <a:r>
              <a:rPr lang="en-US" altLang="ko-KR"/>
              <a:t>. </a:t>
            </a:r>
            <a:r>
              <a:rPr lang="ko-KR" altLang="en-US"/>
              <a:t>신입 강사에게는 무분별하거나 조심스럽지 않게 자기개방을 하는 실수를 범하기보다 차라리 그것이 실수라 하더라도 자기개방에 조심스러운 태도를 가지라고 충고하고 싶다</a:t>
            </a:r>
            <a:r>
              <a:rPr lang="en-US" altLang="ko-KR"/>
              <a:t>. Yalom(2n0s)</a:t>
            </a:r>
            <a:r>
              <a:rPr lang="ko-KR" altLang="en-US"/>
              <a:t>은 지도자의 자기개방은 반드시 구성원들이 자신의 목표에 도달하는 데 도움을 주는 도구가 되이야 한다는 점을 강조했다</a:t>
            </a:r>
            <a:r>
              <a:rPr lang="en-US" altLang="ko-KR"/>
              <a:t>. </a:t>
            </a:r>
            <a:r>
              <a:rPr lang="ko-KR" altLang="en-US"/>
              <a:t>그는 강사가 무분별하게 자기개방을 하는 것에 대해 신중한 입장을 취했고 구성원들에게 수용과 지지</a:t>
            </a:r>
            <a:r>
              <a:rPr lang="en-US" altLang="ko-KR"/>
              <a:t>, </a:t>
            </a:r>
            <a:r>
              <a:rPr lang="ko-KR" altLang="en-US"/>
              <a:t>격려를 제공할 수 있는 자기개방만 선택적으로 할 것을 주장했다</a:t>
            </a:r>
            <a:r>
              <a:rPr lang="en-US" altLang="ko-KR"/>
              <a:t>. Yalom</a:t>
            </a:r>
            <a:r>
              <a:rPr lang="ko-KR" altLang="en-US"/>
              <a:t>은 강사들이 지금</a:t>
            </a:r>
            <a:r>
              <a:rPr lang="en-US" altLang="ko-KR"/>
              <a:t>-</a:t>
            </a:r>
            <a:r>
              <a:rPr lang="ko-KR" altLang="en-US"/>
              <a:t>여기에서 일어나는 반응을 개방하는 것이 그들의 과거에 발생했던 개인적 사건에 대해 상세하게 개방하는 것보다 집단을 더 효과적으로 촉진한다고 믿있다</a:t>
            </a:r>
            <a:r>
              <a:rPr lang="en-US" altLang="ko-KR"/>
              <a:t>. </a:t>
            </a:r>
            <a:r>
              <a:rPr lang="ko-KR" altLang="en-US"/>
              <a:t>강사가 사적인 것을 개방하는 주된 이유는 그러한 개방이 교육효과를 촉진한다는 가정이 있기 때문이다</a:t>
            </a:r>
            <a:r>
              <a:rPr lang="en-US" altLang="ko-KR"/>
              <a:t>. </a:t>
            </a:r>
            <a:r>
              <a:rPr lang="ko-KR" altLang="en-US"/>
              <a:t>때때로 집단지도자의 자기개방은 특정 시점에 구성원 개인이나 집단 전체에게 발생한 것에 대해 지도자가 관찰하거나 개인적으로 느긴 것을 진달하는 기능 한다</a:t>
            </a:r>
            <a:r>
              <a:rPr lang="en-US" altLang="ko-KR"/>
              <a:t>. </a:t>
            </a:r>
            <a:r>
              <a:rPr lang="ko-KR" altLang="en-US"/>
              <a:t>지도자가 주의 깊고 구성원들을 배려하는 태도로 이와 같은 것을 수행한다면 이는 집단 내에서 피드백을 주는 방법에 대해 훌륭한 시범을 보이는 기회가 되며</a:t>
            </a:r>
            <a:r>
              <a:rPr lang="en-US" altLang="ko-KR"/>
              <a:t>, </a:t>
            </a:r>
            <a:r>
              <a:rPr lang="ko-KR" altLang="en-US"/>
              <a:t>집단 에 치료적인 영향을 줄 수도 있을 것이다 </a:t>
            </a:r>
            <a:r>
              <a:rPr lang="en-US" altLang="ko-KR"/>
              <a:t>F</a:t>
            </a:r>
            <a:r>
              <a:rPr lang="ko-KR" altLang="en-US"/>
              <a:t>과 </a:t>
            </a:r>
            <a:r>
              <a:rPr lang="en-US" altLang="ko-KR"/>
              <a:t>K0x(2002)</a:t>
            </a:r>
            <a:r>
              <a:rPr lang="ko-KR" altLang="en-US"/>
              <a:t>는 강사가 자신의 개방이 교육생에게 어떤 영향을 끼치는지에 대 해 이해하고 자기개방을 적절한 방법으로 하는 것은 매우 중요하다고 했다</a:t>
            </a:r>
            <a:r>
              <a:rPr lang="en-US" altLang="ko-KR"/>
              <a:t>. </a:t>
            </a:r>
            <a:r>
              <a:rPr lang="ko-KR" altLang="en-US"/>
              <a:t>강사의 자기개방에 대한 경험적 연구 결과에 따라 </a:t>
            </a:r>
            <a:r>
              <a:rPr lang="en-US" altLang="ko-KR"/>
              <a:t>H</a:t>
            </a:r>
            <a:r>
              <a:rPr lang="ko-KR" altLang="en-US"/>
              <a:t>과 </a:t>
            </a:r>
            <a:r>
              <a:rPr lang="en-US" altLang="ko-KR"/>
              <a:t>Knox</a:t>
            </a:r>
            <a:r>
              <a:rPr lang="ko-KR" altLang="en-US"/>
              <a:t>는 상담 실제에서의 자기개방에 관한 지침을 다읍과 같이 제시했다</a:t>
            </a:r>
            <a:r>
              <a:rPr lang="en-US" altLang="ko-KR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5B56F-D1BB-4222-B3E0-47D56C1452C5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97630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설명</a:t>
            </a:r>
            <a:r>
              <a:rPr lang="en-US" altLang="ko-KR"/>
              <a:t>]</a:t>
            </a:r>
          </a:p>
          <a:p>
            <a:r>
              <a:rPr lang="ko-KR" altLang="en-US"/>
              <a:t>변화 촉진 기술은 교육생들이 긍정적</a:t>
            </a:r>
            <a:r>
              <a:rPr lang="en-US" altLang="ko-KR"/>
              <a:t>, </a:t>
            </a:r>
            <a:r>
              <a:rPr lang="ko-KR" altLang="en-US"/>
              <a:t>생산적으로 변화해 갈 수 있도록 교육 환경 조성에 도움이 되는 기술들을 이야기 합니다</a:t>
            </a:r>
            <a:r>
              <a:rPr lang="en-US" altLang="ko-KR"/>
              <a:t>.</a:t>
            </a:r>
          </a:p>
          <a:p>
            <a:r>
              <a:rPr lang="ko-KR" altLang="en-US"/>
              <a:t>변화 촉진 기술에는 적극적 경청</a:t>
            </a:r>
            <a:r>
              <a:rPr lang="en-US" altLang="ko-KR"/>
              <a:t>/ </a:t>
            </a:r>
            <a:r>
              <a:rPr lang="ko-KR" altLang="en-US"/>
              <a:t>공감적 이해</a:t>
            </a:r>
            <a:r>
              <a:rPr lang="en-US" altLang="ko-KR"/>
              <a:t>/ </a:t>
            </a:r>
            <a:r>
              <a:rPr lang="ko-KR" altLang="en-US"/>
              <a:t>초점 맞추기</a:t>
            </a:r>
            <a:r>
              <a:rPr lang="en-US" altLang="ko-KR"/>
              <a:t>/ </a:t>
            </a:r>
            <a:r>
              <a:rPr lang="ko-KR" altLang="en-US"/>
              <a:t>모델링</a:t>
            </a:r>
            <a:r>
              <a:rPr lang="en-US" altLang="ko-KR"/>
              <a:t>/ </a:t>
            </a:r>
            <a:r>
              <a:rPr lang="ko-KR" altLang="en-US"/>
              <a:t>적극적 참여 유도의 다섯가지 항목이 포함되어 있습니다</a:t>
            </a:r>
            <a:r>
              <a:rPr lang="en-US" altLang="ko-KR"/>
              <a:t>.</a:t>
            </a:r>
          </a:p>
          <a:p>
            <a:r>
              <a:rPr lang="ko-KR" altLang="en-US"/>
              <a:t>이번 시간에는 각 항목에 대해 살펴보고</a:t>
            </a:r>
            <a:r>
              <a:rPr lang="en-US" altLang="ko-KR"/>
              <a:t>, </a:t>
            </a:r>
            <a:r>
              <a:rPr lang="ko-KR" altLang="en-US"/>
              <a:t>교육 환경에 어떻게 적용하면 좋을지 생각해 봅시다</a:t>
            </a:r>
            <a:r>
              <a:rPr lang="en-US" altLang="ko-KR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5B56F-D1BB-4222-B3E0-47D56C1452C5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76833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/>
              <a:t>[</a:t>
            </a:r>
            <a:r>
              <a:rPr lang="ko-KR" altLang="en-US"/>
              <a:t>설명</a:t>
            </a:r>
            <a:r>
              <a:rPr lang="en-US" altLang="ko-KR"/>
              <a:t>]</a:t>
            </a:r>
            <a:br>
              <a:rPr lang="en-US" altLang="ko-KR"/>
            </a:br>
            <a:b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</a:br>
            <a:r>
              <a:rPr lang="ko-KR" altLang="ko-KR" sz="1800" b="1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적극적경청</a:t>
            </a:r>
            <a:br>
              <a:rPr lang="en-US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변화촉진을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위한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첫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번째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기술은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적극적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경청이다</a:t>
            </a:r>
            <a:r>
              <a:rPr lang="en-US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적극적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경청</a:t>
            </a:r>
            <a:r>
              <a:rPr lang="en-US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(Active Listening)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은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교육생의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말과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행동에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민감하게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반응하여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강사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자신이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이해한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것을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자신의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말과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행동으로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되돌려주는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것을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말한다</a:t>
            </a:r>
            <a:r>
              <a:rPr lang="en-US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적극적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경청은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단순히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귀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기울여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들어주는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것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이상을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의미하는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상담도구로</a:t>
            </a:r>
            <a:r>
              <a:rPr lang="en-US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, '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능동적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경청</a:t>
            </a:r>
            <a:r>
              <a:rPr lang="en-US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', '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반영적</a:t>
            </a:r>
            <a:r>
              <a:rPr lang="en-US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(Reflective)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경청</a:t>
            </a:r>
            <a:r>
              <a:rPr lang="en-US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'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또는</a:t>
            </a:r>
            <a:r>
              <a:rPr lang="en-US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'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선택적</a:t>
            </a:r>
            <a:r>
              <a:rPr lang="en-US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(Selective)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경청</a:t>
            </a:r>
            <a:r>
              <a:rPr lang="en-US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'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으로도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불린다</a:t>
            </a:r>
            <a:r>
              <a:rPr lang="en-US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상대방에게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온전히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주의를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기울이는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것은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효과적인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의사소통을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위한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기본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태도다</a:t>
            </a:r>
            <a:r>
              <a:rPr lang="en-US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이를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통해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상대의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대화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내용에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집중할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수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있고</a:t>
            </a:r>
            <a:r>
              <a:rPr lang="en-US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몸짓이나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음성의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변화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등에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주의하며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숨겨진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의미를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감지해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낼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수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있다</a:t>
            </a:r>
            <a:r>
              <a:rPr lang="en-US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그럼에도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en-US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교육에서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적극적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경청이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어려운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이유는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무엇인가</a:t>
            </a:r>
            <a:r>
              <a:rPr lang="en-US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?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그것은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바로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강사의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주의산만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때문이다</a:t>
            </a:r>
            <a:r>
              <a:rPr lang="en-US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강사의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주의를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흩뜨리게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하여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적극적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경청을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어렵게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하는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요인은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아래와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같다</a:t>
            </a:r>
            <a:r>
              <a:rPr lang="en-US" altLang="ko-KR" sz="1800" kern="100">
                <a:solidFill>
                  <a:srgbClr val="1D1C1D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800" kern="10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l" latinLnBrk="0">
              <a:lnSpc>
                <a:spcPct val="107000"/>
              </a:lnSpc>
              <a:spcAft>
                <a:spcPts val="300"/>
              </a:spcAft>
            </a:pPr>
            <a:b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</a:b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적극적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경청의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저해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요인</a:t>
            </a:r>
            <a:b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</a:b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1.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강사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역할에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대한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지나친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의식</a:t>
            </a:r>
            <a:b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</a:b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2.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강사로서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자신이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어떻게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보일지에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대한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지나친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염려</a:t>
            </a:r>
            <a:b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</a:b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3,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말하는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사람에게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초점을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맞추기보다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다음에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말할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것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또는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반응할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것에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대한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생각</a:t>
            </a:r>
            <a:b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</a:b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4.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교육생의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표면적인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메시지에만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주의를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기울일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뿐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행동에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대한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집중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결여</a:t>
            </a:r>
            <a:b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</a:b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5.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지나치게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말을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많이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하면서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자신이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할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말에만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초점을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맞춤</a:t>
            </a:r>
            <a:b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</a:b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6.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상세한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정보를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묻거나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관련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없는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폐쇄질문</a:t>
            </a:r>
            <a:b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</a:b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7.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자신이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듣고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싶은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내용만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듣는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선별적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경청</a:t>
            </a:r>
            <a:b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</a:b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8.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교육생이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스스로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자신의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문제를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탐색하여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해결책을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찾아가도록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돕기보다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성급한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충고를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일삼음</a:t>
            </a:r>
            <a:b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</a:b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9.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교육생의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입장에서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이해하기보다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강사의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입장에서의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교육생에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대한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판단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또는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평가</a:t>
            </a:r>
            <a:b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</a:br>
            <a:b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</a:br>
            <a:r>
              <a:rPr lang="ko-KR" altLang="en-US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교육에서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적극적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경청기술은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강사의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필수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도구다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그러나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집단에서의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적극적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경청은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동시에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여러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사람을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대상으로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다는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점에서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훨씬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복잡하다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강사는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말하고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있는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교육생은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물론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동시에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다른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교육생들의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말과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행동이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전달하는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메시지를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경청해야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하기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때문이다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또한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교육생들이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말하고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있지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않는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경우에도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그들이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어떻게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느끼고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생각하는지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파악하고자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해야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한다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이를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위해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강사는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수시로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집단을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둘러보면서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교육생들의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행동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(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예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표정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자세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몸의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움직임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등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)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관심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있게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살펴야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한다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교육생의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말과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행동을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통해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메시지를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동시에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경청하고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이해하기는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말처럼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쉬운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일이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아니다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그러므로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예비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강사는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평소에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기회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있을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때마다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적극적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경청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기술을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연습해야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할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것이다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상대방의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말과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행동을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동시에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관찰하면서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그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사람이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말하는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내용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이상의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메시지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즉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메타의사소통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(Metacommunication)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파악해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보는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것도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좋은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연습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방법이다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이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방법은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다른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사람들의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말과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행동을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관찰하고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나서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그들이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어떻게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느끼고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있고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무슨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생각을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하고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있는지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파악해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보는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것이다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 </a:t>
            </a:r>
            <a:endParaRPr lang="ko-KR" altLang="ko-KR" sz="1800" kern="10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l" latinLnBrk="0">
              <a:lnSpc>
                <a:spcPct val="107000"/>
              </a:lnSpc>
              <a:spcAft>
                <a:spcPts val="300"/>
              </a:spcAft>
            </a:pP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이처럼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강사의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적극적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경청기술을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통한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반용은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교육생의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통찰을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유도하는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한편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결과적으로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문제해결을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도모하여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궁극적으로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인간적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성장과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발전을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촉진하는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효과가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있다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더욱이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강사는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교육생들의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말에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경청할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뿐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아니라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시범을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통해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이들에게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기본적인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경청과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반응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기술을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습득하도록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돕는다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자신의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이야기에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귀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기울이지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않는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집단에서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교육생들이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깊은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사적인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이야기를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하기는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쉽지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않을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것이다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자신의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이야기에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관심을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기울이지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않는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사람들에게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자신을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드러낼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이유가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없기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때문이다</a:t>
            </a:r>
            <a:endParaRPr lang="ko-KR" altLang="ko-KR" sz="1800" kern="10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l" latinLnBrk="0">
              <a:lnSpc>
                <a:spcPct val="107000"/>
              </a:lnSpc>
              <a:spcAft>
                <a:spcPts val="300"/>
              </a:spcAft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5B56F-D1BB-4222-B3E0-47D56C1452C5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78691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설명</a:t>
            </a:r>
            <a:r>
              <a:rPr lang="en-US" altLang="ko-KR"/>
              <a:t>]</a:t>
            </a:r>
            <a:r>
              <a:rPr lang="ko-KR" altLang="ko-KR" sz="1800" b="1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</a:t>
            </a:r>
            <a:endParaRPr lang="en-US" altLang="ko-KR" sz="1800" b="1" kern="0">
              <a:solidFill>
                <a:srgbClr val="1D1C1D"/>
              </a:solidFill>
              <a:effectLst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  <a:p>
            <a:r>
              <a:rPr lang="ko-KR" altLang="ko-KR" sz="1800" b="1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공감적</a:t>
            </a:r>
            <a:r>
              <a:rPr lang="ko-KR" altLang="ko-KR" sz="1800" b="1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b="1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이해</a:t>
            </a:r>
            <a:b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</a:rPr>
            </a:b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변화촉진을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위한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두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번째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기술은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공감적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이해다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공감적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이해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</a:rPr>
              <a:t>(Empathic understanding)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란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역지사지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즉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다른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사람의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감정을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가슴으로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느끼고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그의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입장을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머리로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이해하는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것을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말한다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공감적으로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이해하는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강사는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교육생의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주관적인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경험을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감지할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수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있고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그의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눈으로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세상을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볼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수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있다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공감적으로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이해하기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위해서는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무엇보다도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교육생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개개인에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대한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보살핌과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개방성이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필요하고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폭넓은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경험과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부단한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연습이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요구된다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또한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공감적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이해를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하기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위해서는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말뿐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아니라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미묘한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행동을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통해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전달되는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메시지도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분별할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수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있어야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한다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그렇지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않은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경우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강사는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집단윈과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지나치게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동일시하여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동조하게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되어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비교육적인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반응을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할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수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있기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때문이다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공감적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이해의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핵심은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교육생이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경험하는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것을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파악</a:t>
            </a:r>
            <a:b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</a:rPr>
            </a:b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하여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그의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내면세계에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들어가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그의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입장에서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주관적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감정을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공유하고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상황을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이해하는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것이다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동시에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그와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동일시하지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않고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강사의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개별성을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유지하는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데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있다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</a:rPr>
              <a:t>.</a:t>
            </a: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5B56F-D1BB-4222-B3E0-47D56C1452C5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7774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설명</a:t>
            </a:r>
            <a:r>
              <a:rPr lang="en-US" altLang="ko-KR"/>
              <a:t>]</a:t>
            </a:r>
          </a:p>
          <a:p>
            <a:r>
              <a:rPr lang="ko-KR" altLang="en-US"/>
              <a:t>초점 맞추기</a:t>
            </a:r>
          </a:p>
          <a:p>
            <a:r>
              <a:rPr lang="ko-KR" altLang="en-US"/>
              <a:t>변화촉진을 위한 세 번째 기술은 초점 맞추기</a:t>
            </a:r>
            <a:r>
              <a:rPr lang="en-US" altLang="ko-KR"/>
              <a:t>(focusing)</a:t>
            </a:r>
            <a:r>
              <a:rPr lang="ko-KR" altLang="en-US"/>
              <a:t>다</a:t>
            </a:r>
            <a:r>
              <a:rPr lang="en-US" altLang="ko-KR"/>
              <a:t>. </a:t>
            </a:r>
            <a:r>
              <a:rPr lang="ko-KR" altLang="en-US"/>
              <a:t>교육 중에는 대화의 초점을 맞추는 일런의 작업 과정이다</a:t>
            </a:r>
            <a:r>
              <a:rPr lang="en-US" altLang="ko-KR"/>
              <a:t>. </a:t>
            </a:r>
            <a:r>
              <a:rPr lang="ko-KR" altLang="en-US"/>
              <a:t>초점이란 집단에서 논의되고 있는 주제 또는 소주제를 말한다</a:t>
            </a:r>
            <a:r>
              <a:rPr lang="en-US" altLang="ko-KR"/>
              <a:t>. </a:t>
            </a:r>
            <a:r>
              <a:rPr lang="ko-KR" altLang="en-US"/>
              <a:t>한 회기에서 초점은 순간순간 주제</a:t>
            </a:r>
            <a:r>
              <a:rPr lang="en-US" altLang="ko-KR"/>
              <a:t>, </a:t>
            </a:r>
            <a:r>
              <a:rPr lang="ko-KR" altLang="en-US"/>
              <a:t>활동 또는 개인으로 옮겨 간다</a:t>
            </a:r>
            <a:r>
              <a:rPr lang="en-US" altLang="ko-KR"/>
              <a:t>. </a:t>
            </a:r>
            <a:r>
              <a:rPr lang="ko-KR" altLang="en-US"/>
              <a:t>예를 들어</a:t>
            </a:r>
            <a:r>
              <a:rPr lang="en-US" altLang="ko-KR"/>
              <a:t>, </a:t>
            </a:r>
            <a:r>
              <a:rPr lang="ko-KR" altLang="en-US"/>
              <a:t>집단의 초점은 부모와의 관계 같은 주제</a:t>
            </a:r>
            <a:r>
              <a:rPr lang="en-US" altLang="ko-KR"/>
              <a:t>, '</a:t>
            </a:r>
            <a:r>
              <a:rPr lang="ko-KR" altLang="en-US"/>
              <a:t>신뢰의 원</a:t>
            </a:r>
            <a:r>
              <a:rPr lang="en-US" altLang="ko-KR"/>
              <a:t>' </a:t>
            </a:r>
            <a:r>
              <a:rPr lang="ko-KR" altLang="en-US"/>
              <a:t>같은 집단 활동</a:t>
            </a:r>
            <a:r>
              <a:rPr lang="en-US" altLang="ko-KR"/>
              <a:t>, </a:t>
            </a:r>
            <a:r>
              <a:rPr lang="ko-KR" altLang="en-US"/>
              <a:t>또는 특정 교육생의 문제가 되기도 한다</a:t>
            </a:r>
            <a:r>
              <a:rPr lang="en-US" altLang="ko-KR"/>
              <a:t>. </a:t>
            </a:r>
            <a:r>
              <a:rPr lang="ko-KR" altLang="en-US"/>
              <a:t>그러므로 강사는 집단의 초점이 어디에 맞추어져 있는지</a:t>
            </a:r>
            <a:r>
              <a:rPr lang="en-US" altLang="ko-KR"/>
              <a:t>, </a:t>
            </a:r>
            <a:r>
              <a:rPr lang="ko-KR" altLang="en-US"/>
              <a:t>그리고 집단목적과 일치하는지 지속적으로 모니터링해야 한다</a:t>
            </a:r>
            <a:r>
              <a:rPr lang="en-US" altLang="ko-KR"/>
              <a:t>. </a:t>
            </a:r>
            <a:r>
              <a:rPr lang="ko-KR" altLang="en-US"/>
              <a:t>집단의 초점은 집단목적과 일치하는 범위내에서 얼마든지 이동할 수 있고</a:t>
            </a:r>
            <a:r>
              <a:rPr lang="en-US" altLang="ko-KR"/>
              <a:t>, </a:t>
            </a:r>
            <a:r>
              <a:rPr lang="ko-KR" altLang="en-US"/>
              <a:t>논의 내용이나 개인 작업의 정도를 더 깊은수준으로 심화시킬 수 있다</a:t>
            </a:r>
            <a:r>
              <a:rPr lang="en-US" altLang="ko-KR"/>
              <a:t>. </a:t>
            </a:r>
            <a:r>
              <a:rPr lang="ko-KR" altLang="en-US"/>
              <a:t>초점 맞추기는 </a:t>
            </a:r>
            <a:r>
              <a:rPr lang="en-US" altLang="ko-KR"/>
              <a:t>1) </a:t>
            </a:r>
            <a:r>
              <a:rPr lang="ko-KR" altLang="en-US"/>
              <a:t>초점 설정</a:t>
            </a:r>
            <a:r>
              <a:rPr lang="en-US" altLang="ko-KR"/>
              <a:t>, 02) </a:t>
            </a:r>
            <a:r>
              <a:rPr lang="ko-KR" altLang="en-US"/>
              <a:t>초점 유지</a:t>
            </a:r>
            <a:r>
              <a:rPr lang="en-US" altLang="ko-KR"/>
              <a:t>, 03) </a:t>
            </a:r>
            <a:r>
              <a:rPr lang="ko-KR" altLang="en-US"/>
              <a:t>초점 이동 </a:t>
            </a:r>
            <a:r>
              <a:rPr lang="en-US" altLang="ko-KR"/>
              <a:t>04) </a:t>
            </a:r>
            <a:r>
              <a:rPr lang="ko-KR" altLang="en-US"/>
              <a:t>초점 심화 등의 과정이 필요에 따라 앞뒤로 오가며 이루어진다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1) </a:t>
            </a:r>
            <a:r>
              <a:rPr lang="ko-KR" altLang="en-US"/>
              <a:t>초점 설정</a:t>
            </a:r>
            <a:r>
              <a:rPr lang="en-US" altLang="ko-KR"/>
              <a:t>.</a:t>
            </a:r>
          </a:p>
          <a:p>
            <a:r>
              <a:rPr lang="ko-KR" altLang="en-US"/>
              <a:t>초점 맞추기의 첫 번째 과업은 초점을 설정하는 일이다</a:t>
            </a:r>
            <a:r>
              <a:rPr lang="en-US" altLang="ko-KR"/>
              <a:t>. </a:t>
            </a:r>
            <a:r>
              <a:rPr lang="ko-KR" altLang="en-US"/>
              <a:t>집단의 초점 설정은 강사의 중요한 임무에 속한다</a:t>
            </a:r>
            <a:r>
              <a:rPr lang="en-US" altLang="ko-KR"/>
              <a:t>. </a:t>
            </a:r>
            <a:r>
              <a:rPr lang="ko-KR" altLang="en-US"/>
              <a:t>교육생들은 종종 자신의 관심사에 몰입하여 다양한 생각들을 복잡한 양상으로 표출하게 된다</a:t>
            </a:r>
            <a:r>
              <a:rPr lang="en-US" altLang="ko-KR"/>
              <a:t>. </a:t>
            </a:r>
            <a:r>
              <a:rPr lang="ko-KR" altLang="en-US"/>
              <a:t>이러한 점에서</a:t>
            </a:r>
            <a:r>
              <a:rPr lang="en-US" altLang="ko-KR"/>
              <a:t>, </a:t>
            </a:r>
            <a:r>
              <a:rPr lang="ko-KR" altLang="en-US"/>
              <a:t>집단 내에서 여유를 가지고 집단의 흐름을 관찰할 수 있는 사람은 바로 교육자다</a:t>
            </a:r>
            <a:r>
              <a:rPr lang="en-US" altLang="ko-KR"/>
              <a:t>. </a:t>
            </a:r>
            <a:r>
              <a:rPr lang="ko-KR" altLang="en-US"/>
              <a:t>강사에게는 집단의 초점을 설정할 수 있는 권한이 있다</a:t>
            </a:r>
            <a:r>
              <a:rPr lang="en-US" altLang="ko-KR"/>
              <a:t>. </a:t>
            </a:r>
            <a:r>
              <a:rPr lang="ko-KR" altLang="en-US"/>
              <a:t>집단의 초점 설정 방법은 매우 다양하다</a:t>
            </a:r>
            <a:r>
              <a:rPr lang="en-US" altLang="ko-KR"/>
              <a:t>. </a:t>
            </a:r>
            <a:r>
              <a:rPr lang="ko-KR" altLang="en-US"/>
              <a:t>이는 단순히 교육생들에게 다음에 다룰 주제나 활동을 말해 줌으로써 설정될 수도 있다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en-US" altLang="ko-KR"/>
              <a:t>2)</a:t>
            </a:r>
            <a:r>
              <a:rPr lang="ko-KR" altLang="en-US"/>
              <a:t>초점 유지</a:t>
            </a:r>
          </a:p>
          <a:p>
            <a:r>
              <a:rPr lang="ko-KR" altLang="en-US"/>
              <a:t>초점 유지란 집단 내에서 집단의 목적에 부합된다고 판단되는 주제를 지속적</a:t>
            </a:r>
            <a:r>
              <a:rPr lang="en-US" altLang="ko-KR"/>
              <a:t>, </a:t>
            </a:r>
            <a:r>
              <a:rPr lang="ko-KR" altLang="en-US"/>
              <a:t>의도적으로 다루는 것을 말한다</a:t>
            </a:r>
            <a:r>
              <a:rPr lang="en-US" altLang="ko-KR"/>
              <a:t>. </a:t>
            </a:r>
            <a:r>
              <a:rPr lang="ko-KR" altLang="en-US"/>
              <a:t>한 가지 주제에 관해 이야기를 나누던 중에 다른 주제의 이야기를 꺼내는 교육생이 있다면</a:t>
            </a:r>
            <a:r>
              <a:rPr lang="en-US" altLang="ko-KR"/>
              <a:t>, </a:t>
            </a:r>
            <a:r>
              <a:rPr lang="ko-KR" altLang="en-US"/>
              <a:t>이를 차단하여 본래의 주제에 관한 이야기에 머무르게 하는 것도 초점 유지의 일환이다</a:t>
            </a:r>
            <a:r>
              <a:rPr lang="en-US" altLang="ko-KR"/>
              <a:t>. </a:t>
            </a:r>
            <a:r>
              <a:rPr lang="ko-KR" altLang="en-US"/>
              <a:t>일단 집단의 초점이 맞추어지면</a:t>
            </a:r>
            <a:r>
              <a:rPr lang="en-US" altLang="ko-KR"/>
              <a:t>, </a:t>
            </a:r>
            <a:r>
              <a:rPr lang="ko-KR" altLang="en-US"/>
              <a:t>강사에게는 다음과 같은 임무가 주어진다</a:t>
            </a:r>
            <a:r>
              <a:rPr lang="en-US" altLang="ko-KR"/>
              <a:t>. </a:t>
            </a:r>
            <a:r>
              <a:rPr lang="ko-KR" altLang="en-US"/>
              <a:t>즉</a:t>
            </a:r>
            <a:r>
              <a:rPr lang="en-US" altLang="ko-KR"/>
              <a:t>, </a:t>
            </a:r>
            <a:r>
              <a:rPr lang="ko-KR" altLang="en-US"/>
              <a:t>집단의 초점이 산만해져서 다시 제 궤도에 올려놓거나 특정 주제나 사람에게 맞출 필요는 없는지 집단의 흐름을 면밀히 관찰한다</a:t>
            </a:r>
            <a:r>
              <a:rPr lang="en-US" altLang="ko-KR"/>
              <a:t>. </a:t>
            </a:r>
            <a:r>
              <a:rPr lang="ko-KR" altLang="en-US"/>
              <a:t>또한</a:t>
            </a:r>
            <a:r>
              <a:rPr lang="en-US" altLang="ko-KR"/>
              <a:t>, </a:t>
            </a:r>
            <a:r>
              <a:rPr lang="ko-KR" altLang="en-US"/>
              <a:t>다른 주제나 교육생 또는 활동으로 옮겨 갈 필요는 없는지 지속적으로 살펴야 한다</a:t>
            </a:r>
            <a:r>
              <a:rPr lang="en-US" altLang="ko-KR"/>
              <a:t>. </a:t>
            </a:r>
            <a:r>
              <a:rPr lang="ko-KR" altLang="en-US"/>
              <a:t>예를 들어</a:t>
            </a:r>
            <a:r>
              <a:rPr lang="en-US" altLang="ko-KR"/>
              <a:t>, </a:t>
            </a:r>
            <a:r>
              <a:rPr lang="ko-KR" altLang="en-US"/>
              <a:t>대학생 성장집단에서 한 교육생이 최근에 아버지를 잃은 슬픔을 토로하던 중에 다른 교육생이 최근 대학생들 사이에 인기가 높은 연예인들에 관한 이야기를 늘어놓는다고 하자</a:t>
            </a:r>
            <a:r>
              <a:rPr lang="en-US" altLang="ko-KR"/>
              <a:t>. </a:t>
            </a:r>
            <a:r>
              <a:rPr lang="ko-KR" altLang="en-US"/>
              <a:t>이때 강사가 즉각 개입하여 집단의 주제를 앞서 이야기하던 것으로 되돌려 놓는 것이 초점 유지다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그러면 교육의 초점은 어떤 경우에 유지해야 하는가</a:t>
            </a:r>
            <a:r>
              <a:rPr lang="en-US" altLang="ko-KR"/>
              <a:t>? </a:t>
            </a:r>
            <a:r>
              <a:rPr lang="ko-KR" altLang="en-US"/>
              <a:t>집단마다 목적이 다르고 교육생들의 욕구가 다양하다는 점에서 이 질문에 대한 대답은 쉽지 않다</a:t>
            </a:r>
            <a:r>
              <a:rPr lang="en-US" altLang="ko-KR"/>
              <a:t>. </a:t>
            </a:r>
            <a:r>
              <a:rPr lang="ko-KR" altLang="en-US"/>
              <a:t>집단의 초점을 유지할 것인가</a:t>
            </a:r>
            <a:r>
              <a:rPr lang="en-US" altLang="ko-KR"/>
              <a:t>, </a:t>
            </a:r>
            <a:r>
              <a:rPr lang="ko-KR" altLang="en-US"/>
              <a:t>아니면 다른 주제로 옮길 것인가를 결정하기 위해 강사가 고려해야 할 사항은 아래와 같다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'</a:t>
            </a:r>
            <a:r>
              <a:rPr lang="ko-KR" altLang="en-US"/>
              <a:t>초점 이동</a:t>
            </a:r>
            <a:r>
              <a:rPr lang="en-US" altLang="ko-KR"/>
              <a:t>' </a:t>
            </a:r>
            <a:r>
              <a:rPr lang="ko-KR" altLang="en-US"/>
              <a:t>결정을 위한 체크리스트</a:t>
            </a:r>
          </a:p>
          <a:p>
            <a:r>
              <a:rPr lang="ko-KR" altLang="en-US"/>
              <a:t> </a:t>
            </a:r>
            <a:r>
              <a:rPr lang="en-US" altLang="ko-KR"/>
              <a:t>"</a:t>
            </a:r>
            <a:r>
              <a:rPr lang="ko-KR" altLang="en-US"/>
              <a:t>집단 시간이 충분히 남아 있는가</a:t>
            </a:r>
            <a:r>
              <a:rPr lang="en-US" altLang="ko-KR"/>
              <a:t>?</a:t>
            </a:r>
          </a:p>
          <a:p>
            <a:r>
              <a:rPr lang="en-US" altLang="ko-KR"/>
              <a:t> "</a:t>
            </a:r>
            <a:r>
              <a:rPr lang="ko-KR" altLang="en-US"/>
              <a:t>교육생들은 현재의 초점에 관심이 있는가</a:t>
            </a:r>
            <a:r>
              <a:rPr lang="en-US" altLang="ko-KR"/>
              <a:t>?</a:t>
            </a:r>
          </a:p>
          <a:p>
            <a:r>
              <a:rPr lang="en-US" altLang="ko-KR"/>
              <a:t> "</a:t>
            </a:r>
            <a:r>
              <a:rPr lang="ko-KR" altLang="en-US"/>
              <a:t>집단논의에 다른 교육생을 끌어들일 필요는 없는가</a:t>
            </a:r>
            <a:r>
              <a:rPr lang="en-US" altLang="ko-KR"/>
              <a:t>?</a:t>
            </a:r>
          </a:p>
          <a:p>
            <a:r>
              <a:rPr lang="en-US" altLang="ko-KR"/>
              <a:t> "</a:t>
            </a:r>
            <a:r>
              <a:rPr lang="ko-KR" altLang="en-US"/>
              <a:t>집단의 초점은 어떤 주제</a:t>
            </a:r>
            <a:r>
              <a:rPr lang="en-US" altLang="ko-KR"/>
              <a:t>, </a:t>
            </a:r>
            <a:r>
              <a:rPr lang="ko-KR" altLang="en-US"/>
              <a:t>사람 또는 활동에 맞추어져 있는가</a:t>
            </a:r>
            <a:r>
              <a:rPr lang="en-US" altLang="ko-KR"/>
              <a:t>?"</a:t>
            </a:r>
          </a:p>
          <a:p>
            <a:r>
              <a:rPr lang="en-US" altLang="ko-KR"/>
              <a:t> "</a:t>
            </a:r>
            <a:r>
              <a:rPr lang="ko-KR" altLang="en-US"/>
              <a:t>새로운 주제로 초점을 옮기고 싶은가</a:t>
            </a:r>
            <a:r>
              <a:rPr lang="en-US" altLang="ko-KR"/>
              <a:t>? </a:t>
            </a:r>
            <a:r>
              <a:rPr lang="ko-KR" altLang="en-US"/>
              <a:t>아니면 옮길 필요가 있는가</a:t>
            </a:r>
            <a:r>
              <a:rPr lang="en-US" altLang="ko-KR"/>
              <a:t>? "</a:t>
            </a:r>
          </a:p>
          <a:p>
            <a:r>
              <a:rPr lang="en-US" altLang="ko-KR"/>
              <a:t> "</a:t>
            </a:r>
            <a:r>
              <a:rPr lang="ko-KR" altLang="en-US"/>
              <a:t>현재 다루고 있는 주제</a:t>
            </a:r>
            <a:r>
              <a:rPr lang="en-US" altLang="ko-KR"/>
              <a:t>, </a:t>
            </a:r>
            <a:r>
              <a:rPr lang="ko-KR" altLang="en-US"/>
              <a:t>사람 또는 활동에 너무 오랫동안 초점을 맞추고 있는 것은 아닌가</a:t>
            </a:r>
            <a:r>
              <a:rPr lang="en-US" altLang="ko-KR"/>
              <a:t>?"</a:t>
            </a:r>
          </a:p>
          <a:p>
            <a:r>
              <a:rPr lang="en-US" altLang="ko-KR"/>
              <a:t> "</a:t>
            </a:r>
            <a:r>
              <a:rPr lang="ko-KR" altLang="en-US"/>
              <a:t>현재의 초점은 교육목적과 관련이 있는가</a:t>
            </a:r>
            <a:r>
              <a:rPr lang="en-US" altLang="ko-KR"/>
              <a:t>? </a:t>
            </a:r>
            <a:r>
              <a:rPr lang="ko-KR" altLang="en-US"/>
              <a:t>이미 과거에 다룬 적이 있었던 것은 아</a:t>
            </a:r>
          </a:p>
          <a:p>
            <a:r>
              <a:rPr lang="ko-KR" altLang="en-US"/>
              <a:t>닌가</a:t>
            </a:r>
            <a:r>
              <a:rPr lang="en-US" altLang="ko-KR"/>
              <a:t>?</a:t>
            </a:r>
          </a:p>
          <a:p>
            <a:endParaRPr lang="en-US" altLang="ko-KR"/>
          </a:p>
          <a:p>
            <a:r>
              <a:rPr lang="en-US" altLang="ko-KR"/>
              <a:t>3) </a:t>
            </a:r>
            <a:r>
              <a:rPr lang="ko-KR" altLang="en-US"/>
              <a:t>초점 이동</a:t>
            </a:r>
            <a:r>
              <a:rPr lang="en-US" altLang="ko-KR"/>
              <a:t>.</a:t>
            </a:r>
          </a:p>
          <a:p>
            <a:r>
              <a:rPr lang="ko-KR" altLang="en-US"/>
              <a:t>초점 맞추기의 세 빈째 과입은 초점을 이동하는 일이다</a:t>
            </a:r>
            <a:r>
              <a:rPr lang="en-US" altLang="ko-KR"/>
              <a:t>. </a:t>
            </a:r>
            <a:r>
              <a:rPr lang="ko-KR" altLang="en-US"/>
              <a:t>집단의 초점 이동은 초점 유지와 맞물러 있다</a:t>
            </a:r>
            <a:r>
              <a:rPr lang="en-US" altLang="ko-KR"/>
              <a:t>. </a:t>
            </a:r>
            <a:r>
              <a:rPr lang="ko-KR" altLang="en-US"/>
              <a:t>즉</a:t>
            </a:r>
            <a:r>
              <a:rPr lang="en-US" altLang="ko-KR"/>
              <a:t>, </a:t>
            </a:r>
            <a:r>
              <a:rPr lang="ko-KR" altLang="en-US"/>
              <a:t>집단의 초점 이동은 집단의 초점을 더 이상 유지할 필요가 없는 경우다</a:t>
            </a:r>
            <a:r>
              <a:rPr lang="en-US" altLang="ko-KR"/>
              <a:t>. </a:t>
            </a:r>
            <a:r>
              <a:rPr lang="ko-KR" altLang="en-US"/>
              <a:t>그러므로 강사는 위 체크리스트의 질문들에 대해 어떻게 답할 것인지 고려해 보면서 집단의 초점을 이동할 필요가 있는지를 결정한다</a:t>
            </a:r>
          </a:p>
          <a:p>
            <a:endParaRPr lang="ko-KR" altLang="en-US"/>
          </a:p>
          <a:p>
            <a:r>
              <a:rPr lang="en-US" altLang="ko-KR"/>
              <a:t>4) </a:t>
            </a:r>
            <a:r>
              <a:rPr lang="ko-KR" altLang="en-US"/>
              <a:t>초점 심화</a:t>
            </a:r>
            <a:r>
              <a:rPr lang="en-US" altLang="ko-KR"/>
              <a:t>.</a:t>
            </a:r>
          </a:p>
          <a:p>
            <a:r>
              <a:rPr lang="ko-KR" altLang="en-US"/>
              <a:t>초점 맞추기의 네 번째 과업은 집단의 초점을 심화하는 일이다</a:t>
            </a:r>
            <a:r>
              <a:rPr lang="en-US" altLang="ko-KR"/>
              <a:t>. </a:t>
            </a:r>
            <a:r>
              <a:rPr lang="ko-KR" altLang="en-US"/>
              <a:t>교육생들이 긍정적</a:t>
            </a:r>
            <a:r>
              <a:rPr lang="en-US" altLang="ko-KR"/>
              <a:t>, </a:t>
            </a:r>
            <a:r>
              <a:rPr lang="ko-KR" altLang="en-US"/>
              <a:t>생산적인 변화를 얻을 수 있게 하기 위해서는 집단작업이 깊은 수준에서 이루이질 필요가 있다</a:t>
            </a:r>
            <a:r>
              <a:rPr lang="en-US" altLang="ko-KR"/>
              <a:t>. </a:t>
            </a:r>
            <a:r>
              <a:rPr lang="ko-KR" altLang="en-US"/>
              <a:t>집단의 초점 심화를 위해 강사는 교육생들과 집중적으로 작업하되</a:t>
            </a:r>
            <a:r>
              <a:rPr lang="en-US" altLang="ko-KR"/>
              <a:t>, </a:t>
            </a:r>
            <a:r>
              <a:rPr lang="ko-KR" altLang="en-US"/>
              <a:t>교육생들 사이에 개인적인 쌍식으로 나눔의 기회를 가질 수 있도록 촉진자 역할을 한다</a:t>
            </a:r>
            <a:r>
              <a:rPr lang="en-US" altLang="ko-KR"/>
              <a:t>. </a:t>
            </a:r>
            <a:r>
              <a:rPr lang="ko-KR" altLang="en-US"/>
              <a:t>그리고 때로로 교육생들이 자신의 사적인 문제와 상황을 재고해 볼 수 있게 하는 탐색질문을 하거나 집중적인 활동을 마련한다</a:t>
            </a:r>
            <a:r>
              <a:rPr lang="en-US" altLang="ko-KR"/>
              <a:t>.</a:t>
            </a:r>
          </a:p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5B56F-D1BB-4222-B3E0-47D56C1452C5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84083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설명</a:t>
            </a:r>
            <a:r>
              <a:rPr lang="en-US" altLang="ko-KR"/>
              <a:t>]</a:t>
            </a:r>
          </a:p>
          <a:p>
            <a:pPr algn="l" latinLnBrk="0">
              <a:lnSpc>
                <a:spcPct val="107000"/>
              </a:lnSpc>
              <a:spcAft>
                <a:spcPts val="300"/>
              </a:spcAft>
            </a:pP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4)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모델링</a:t>
            </a:r>
            <a:b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</a:b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변화촉진을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위한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네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번째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기술은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모델링이다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모델링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(Modeling)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이란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강사가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교육생들의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본보기가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되어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보고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배울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있도록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하는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방법을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말한다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집단참여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경험이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없는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교육생은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집단에서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자신의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역할에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대해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혼란스러워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할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있다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집단에서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어떤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주제와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방식으로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말해야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하는지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또는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다른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교육생의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자기개방에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어떻게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반응해야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하는지에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대해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낮설어하며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집단참여를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망설일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있다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이때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필요한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것이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바로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강사의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모델링이다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강사의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모델링은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집단규범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강화에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유용한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방법이다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예를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들어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진정성과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반응성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타인에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대한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공감적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이해와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수용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타인의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안녕에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대한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관심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다양성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존중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돌봄과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관심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표현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감정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표현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(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특히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비공격적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방식으로의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부적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감정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표현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),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자기개방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피드백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모험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감수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행동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긍정적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어조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등이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그것이다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강사의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역할은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교육생의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것과는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다르다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그렇지만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전문가의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가면을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쓰고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그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가면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뒤로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자신의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모습을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숨겨서는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안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된다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강사는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상담기술을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활용하여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교육생들의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참여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행동에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적극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반응함으로써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이들의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참여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행동을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강화한다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 </a:t>
            </a:r>
            <a:endParaRPr lang="ko-KR" altLang="ko-KR" sz="1800" kern="10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이리한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기술은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집단분위기에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직접적으로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영향을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준다는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첨에서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특히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집단초기에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중요하다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집단초기에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강사는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안정되고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이완된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자세로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교육생들에게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비교적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일일이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반응하기도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한다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그러나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교육생들이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각자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자신의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역할을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인식하고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점차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적극적으로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참여하게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되면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강사는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반응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횟수를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점차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줄여</a:t>
            </a:r>
            <a:r>
              <a:rPr lang="ko-KR" altLang="ko-KR" sz="1800" kern="0">
                <a:solidFill>
                  <a:srgbClr val="1D1C1D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나간다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</a:rPr>
              <a:t>.</a:t>
            </a: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5B56F-D1BB-4222-B3E0-47D56C1452C5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42030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설명</a:t>
            </a:r>
            <a:r>
              <a:rPr lang="en-US" altLang="ko-KR"/>
              <a:t>]</a:t>
            </a:r>
          </a:p>
          <a:p>
            <a:pPr algn="l" latinLnBrk="0">
              <a:lnSpc>
                <a:spcPct val="107000"/>
              </a:lnSpc>
              <a:spcAft>
                <a:spcPts val="300"/>
              </a:spcAft>
            </a:pP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5)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적극적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참여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유도</a:t>
            </a:r>
            <a:b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</a:b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변화촉진을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위한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다섯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번째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기술은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교육생의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적극적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참여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유도다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교육생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모두가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집단에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적극적으로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참여하도록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유도하는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것은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집단의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변화촉진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분위기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조성을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위한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강사의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필수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과업이다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교육생들을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집단작업에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적극적으로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참여시키기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위한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기본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방법으로는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a)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순서대로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돌아가기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b)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손들기가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있다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</a:t>
            </a:r>
            <a:b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</a:br>
            <a:b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</a:b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a)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순서대로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돌아가기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</a:t>
            </a:r>
            <a:b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</a:b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순서대로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돌아가기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(Go-around)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란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어느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교육생부터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시작하여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교육생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개개인이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시계방향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또는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시계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반대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방향으로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차례로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돌아가며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활동에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참여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또는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반응하는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것을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말한다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집단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회기를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시작하기에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앞서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강사는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교육생들에게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잠시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시간을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주고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후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교육을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시작한다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</a:t>
            </a:r>
            <a:b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</a:b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이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외에도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강사는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자연스럽고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부드러운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표징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시선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접촉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유지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언어적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표현에의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관심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표출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심리적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관심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기울이기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고개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끄덕여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주기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말을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이어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주는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질문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등을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통해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교육생들을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지속적으로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집단작업에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끌어들인다</a:t>
            </a:r>
            <a:b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</a:br>
            <a:b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</a:b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b)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손들기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</a:t>
            </a:r>
            <a:b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</a:b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손들기는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강사가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열거하는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진술문이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교육생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자신에게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해당되면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손을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들게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하는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방법이다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강사는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손들기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시범을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통해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교육생에게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손을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들도록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행동으로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신호할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있다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</a:t>
            </a:r>
            <a:b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</a:br>
            <a:b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</a:b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교육생들의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적극적인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참여를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유도하기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위한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 '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순서대로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돌아가기와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 '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손들기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'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방법을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적용할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때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강사는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시선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접촉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몸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기울이기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흥미와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관심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표현하기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같은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행동을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적극적으로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이용할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필요가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있다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</a:t>
            </a:r>
            <a:endParaRPr lang="ko-KR" altLang="ko-KR" sz="1800" kern="10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5B56F-D1BB-4222-B3E0-47D56C1452C5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248866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설명</a:t>
            </a:r>
            <a:r>
              <a:rPr lang="en-US" altLang="ko-KR"/>
              <a:t>]</a:t>
            </a:r>
            <a:r>
              <a:rPr lang="ko-KR" altLang="en-US"/>
              <a:t> </a:t>
            </a:r>
            <a:endParaRPr lang="en-US" altLang="ko-KR"/>
          </a:p>
          <a:p>
            <a:pPr>
              <a:lnSpc>
                <a:spcPct val="150000"/>
              </a:lnSpc>
            </a:pP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아래 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2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명의 교육생 중 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1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명만 채용해야 한다면 누구를 채용하겠습니까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? </a:t>
            </a:r>
          </a:p>
          <a:p>
            <a:pPr>
              <a:lnSpc>
                <a:spcPct val="150000"/>
              </a:lnSpc>
            </a:pP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채용한 교육생을 성장 시키기 위해 어떠한 리더십을 발휘하겠습니까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?</a:t>
            </a:r>
          </a:p>
          <a:p>
            <a:pPr>
              <a:lnSpc>
                <a:spcPct val="150000"/>
              </a:lnSpc>
            </a:pPr>
            <a:endParaRPr lang="en-US" altLang="ko-KR" sz="12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만약 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2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명을 모두 채용한다면 두명에게 동일한 리더십을 적용하겠습니까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? </a:t>
            </a: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아니면 다른 방법을 적용하겠습니까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?</a:t>
            </a:r>
          </a:p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5B56F-D1BB-4222-B3E0-47D56C1452C5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489819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설명</a:t>
            </a:r>
            <a:r>
              <a:rPr lang="en-US" altLang="ko-KR"/>
              <a:t>]</a:t>
            </a:r>
            <a:r>
              <a:rPr lang="ko-KR" altLang="en-US"/>
              <a:t> </a:t>
            </a:r>
            <a:endParaRPr lang="en-US" altLang="ko-KR"/>
          </a:p>
          <a:p>
            <a:pPr>
              <a:lnSpc>
                <a:spcPct val="150000"/>
              </a:lnSpc>
            </a:pPr>
            <a:r>
              <a:rPr lang="ko-KR" altLang="en-US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최근 유행하는 직장 상사 유형론이 시사하는 바는 무엇이라고 생각합니까</a:t>
            </a:r>
            <a:r>
              <a:rPr lang="en-US" altLang="ko-KR" sz="1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?</a:t>
            </a:r>
          </a:p>
          <a:p>
            <a:pPr>
              <a:lnSpc>
                <a:spcPct val="150000"/>
              </a:lnSpc>
            </a:pPr>
            <a:endParaRPr lang="en-US" altLang="ko-KR" sz="12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b="0" i="0" u="none">
                <a:solidFill>
                  <a:srgbClr val="555555"/>
                </a:solidFill>
                <a:effectLst/>
                <a:latin typeface="배달의민족 도현" panose="020B0600000101010101" pitchFamily="50" charset="-127"/>
              </a:rPr>
              <a:t>-&gt; </a:t>
            </a:r>
            <a:r>
              <a:rPr lang="ko-KR" altLang="en-US" b="0" i="0" u="none">
                <a:solidFill>
                  <a:srgbClr val="555555"/>
                </a:solidFill>
                <a:effectLst/>
                <a:latin typeface="배달의민족 도현" panose="020B0600000101010101" pitchFamily="50" charset="-127"/>
              </a:rPr>
              <a:t>부하 직원의 유형에 따라 그에 걸맞은 리더십을 발휘해야 한다</a:t>
            </a:r>
            <a:endParaRPr lang="en-US" altLang="ko-KR" b="0" i="0" u="none">
              <a:solidFill>
                <a:srgbClr val="555555"/>
              </a:solidFill>
              <a:effectLst/>
              <a:latin typeface="배달의민족 도현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b="0" i="0" u="none">
                <a:solidFill>
                  <a:srgbClr val="555555"/>
                </a:solidFill>
                <a:effectLst/>
                <a:latin typeface="배달의민족 도현" panose="020B0600000101010101" pitchFamily="50" charset="-127"/>
              </a:rPr>
              <a:t>-&gt; </a:t>
            </a:r>
            <a:r>
              <a:rPr lang="ko-KR" altLang="en-US" b="0" i="0" u="none">
                <a:solidFill>
                  <a:srgbClr val="555555"/>
                </a:solidFill>
                <a:effectLst/>
                <a:latin typeface="배달의민족 도현" panose="020B0600000101010101" pitchFamily="50" charset="-127"/>
              </a:rPr>
              <a:t>모든 상황에 유효한 절대적 리더십이 있는 것이 아니라 상황마다 유효한 리더십이 있다</a:t>
            </a:r>
            <a:endParaRPr lang="en-US" altLang="ko-KR" u="none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5B56F-D1BB-4222-B3E0-47D56C1452C5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28515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설명</a:t>
            </a:r>
            <a:r>
              <a:rPr lang="en-US" altLang="ko-KR"/>
              <a:t>]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5B56F-D1BB-4222-B3E0-47D56C1452C5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29535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설명</a:t>
            </a:r>
            <a:r>
              <a:rPr lang="en-US" altLang="ko-KR"/>
              <a:t>]</a:t>
            </a:r>
          </a:p>
          <a:p>
            <a:pPr algn="l" latinLnBrk="0">
              <a:lnSpc>
                <a:spcPct val="107000"/>
              </a:lnSpc>
              <a:spcAft>
                <a:spcPts val="300"/>
              </a:spcAft>
            </a:pP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5)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적극적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참여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유도</a:t>
            </a:r>
            <a:b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</a:b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변화촉진을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위한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다섯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번째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기술은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교육생의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적극적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참여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유도다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교육생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모두가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집단에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적극적으로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참여하도록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유도하는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것은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집단의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변화촉진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분위기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조성을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위한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강사의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필수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과업이다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교육생들을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집단작업에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적극적으로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참여시키기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위한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기본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방법으로는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a)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순서대로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돌아가기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b)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손들기가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있다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</a:t>
            </a:r>
            <a:b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</a:br>
            <a:b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</a:b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a)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순서대로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돌아가기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</a:t>
            </a:r>
            <a:b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</a:b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순서대로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돌아가기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(Go-around)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란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어느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교육생부터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시작하여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교육생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개개인이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시계방향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또는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시계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반대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방향으로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차례로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돌아가며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활동에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참여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또는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반응하는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것을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말한다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집단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회기를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시작하기에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앞서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강사는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교육생들에게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잠시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시간을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주고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후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교육을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시작한다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</a:t>
            </a:r>
            <a:b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</a:b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이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외에도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강사는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자연스럽고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부드러운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표징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시선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접촉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유지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언어적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표현에의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관심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표출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심리적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관심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기울이기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고개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끄덕여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주기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말을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이어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주는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질문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등을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통해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교육생들을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지속적으로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집단작업에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끌어들인다</a:t>
            </a:r>
            <a:b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</a:br>
            <a:b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</a:b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b)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손들기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</a:t>
            </a:r>
            <a:b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</a:b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손들기는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강사가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열거하는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진술문이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교육생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자신에게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해당되면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손을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들게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하는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방법이다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강사는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손들기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시범을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통해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교육생에게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손을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들도록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행동으로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신호할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있다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</a:t>
            </a:r>
            <a:b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</a:br>
            <a:b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</a:b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교육생들의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적극적인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참여를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유도하기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위한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 '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순서대로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돌아가기와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 '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손들기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'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방법을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적용할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때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강사는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시선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접촉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몸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기울이기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흥미와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관심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표현하기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같은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행동을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적극적으로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이용할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필요가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맑은 고딕" panose="020B0503020000020004" pitchFamily="50" charset="-127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있다</a:t>
            </a:r>
            <a:r>
              <a:rPr lang="en-US" altLang="ko-KR" sz="1800" kern="0">
                <a:solidFill>
                  <a:srgbClr val="1D1C1D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cs typeface="Times New Roman" panose="02020603050405020304" pitchFamily="18" charset="0"/>
              </a:rPr>
              <a:t>.</a:t>
            </a:r>
            <a:endParaRPr lang="ko-KR" altLang="ko-KR" sz="1800" kern="10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5B56F-D1BB-4222-B3E0-47D56C1452C5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91477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부하직원 유형에 따른 리더십 유형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/>
              <a:t>M1 </a:t>
            </a:r>
            <a:r>
              <a:rPr lang="ko-KR" altLang="en-US"/>
              <a:t>낮은 능력과 낮은 의욕의 부하직원 </a:t>
            </a:r>
            <a:r>
              <a:rPr lang="en-US" altLang="ko-KR"/>
              <a:t>– S1 </a:t>
            </a:r>
            <a:r>
              <a:rPr lang="ko-KR" altLang="en-US"/>
              <a:t>지시형 리더십</a:t>
            </a:r>
            <a:endParaRPr lang="en-US" altLang="ko-KR"/>
          </a:p>
          <a:p>
            <a:pPr marL="1085850" marR="0" lvl="2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/>
              <a:t>초보자에게는 명확한 지시를 내릴 것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ko-KR" altLang="en-US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/>
              <a:t>M2 </a:t>
            </a:r>
            <a:r>
              <a:rPr lang="ko-KR" altLang="en-US"/>
              <a:t>낮은 능력과 높은 의욕의 부하직원 </a:t>
            </a:r>
            <a:r>
              <a:rPr lang="en-US" altLang="ko-KR"/>
              <a:t>– S2 </a:t>
            </a:r>
            <a:r>
              <a:rPr lang="ko-KR" altLang="en-US"/>
              <a:t>지도형 리더십</a:t>
            </a:r>
            <a:endParaRPr lang="en-US" altLang="ko-KR"/>
          </a:p>
          <a:p>
            <a:pPr marL="1085850" marR="0" lvl="2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/>
              <a:t>의욕 넘치는 사원의 제안을 받아들여 줄 것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ko-KR" altLang="en-US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/>
              <a:t>M3 </a:t>
            </a:r>
            <a:r>
              <a:rPr lang="ko-KR" altLang="en-US"/>
              <a:t>높은 능력과 낮은 의욕의 부하직원 </a:t>
            </a:r>
            <a:r>
              <a:rPr lang="en-US" altLang="ko-KR"/>
              <a:t>– S3 </a:t>
            </a:r>
            <a:r>
              <a:rPr lang="ko-KR" altLang="en-US"/>
              <a:t>지원형 리더십</a:t>
            </a:r>
            <a:endParaRPr lang="en-US" altLang="ko-KR"/>
          </a:p>
          <a:p>
            <a:pPr marL="1085850" marR="0" lvl="2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/>
              <a:t>방황하는 중급자에게는 함께 의사 결정하고 책일을 나눠 맡을 것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ko-KR" altLang="en-US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/>
              <a:t>M4 </a:t>
            </a:r>
            <a:r>
              <a:rPr lang="ko-KR" altLang="en-US"/>
              <a:t>높은 능력과 높은 의욕의 부하직원 </a:t>
            </a:r>
            <a:r>
              <a:rPr lang="en-US" altLang="ko-KR"/>
              <a:t>– S4 </a:t>
            </a:r>
            <a:r>
              <a:rPr lang="ko-KR" altLang="en-US"/>
              <a:t>위임형 리더십</a:t>
            </a:r>
            <a:endParaRPr lang="en-US" altLang="ko-KR"/>
          </a:p>
          <a:p>
            <a:pPr marL="1085850" marR="0" lvl="2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/>
              <a:t>훌륭한 상급자에게는 권한을 위임하고 지켜볼 것</a:t>
            </a:r>
            <a:endParaRPr lang="en-US" altLang="ko-KR"/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5B56F-D1BB-4222-B3E0-47D56C1452C5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156579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.jp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.jp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제목을-입력해주세요_-_-복사본 (2)">
            <a:hlinkClick r:id="" action="ppaction://media"/>
            <a:extLst>
              <a:ext uri="{FF2B5EF4-FFF2-40B4-BE49-F238E27FC236}">
                <a16:creationId xmlns:a16="http://schemas.microsoft.com/office/drawing/2014/main" id="{E33379D9-DEC3-B805-B052-A30DE573F877}"/>
              </a:ext>
            </a:extLst>
          </p:cNvPr>
          <p:cNvPicPr>
            <a:picLocks noChangeAspect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5"/>
          <a:srcRect l="16667" t="9877" r="34375" b="29235"/>
          <a:stretch/>
        </p:blipFill>
        <p:spPr>
          <a:xfrm>
            <a:off x="4800600" y="1008380"/>
            <a:ext cx="2829146" cy="1979196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8CFF5269-C7D7-7F4A-CA46-916DABEDB4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3600" y="10020300"/>
            <a:ext cx="762000" cy="173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46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A2F3105A-EE86-83E9-1CF2-F13CB4213C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2" b="1"/>
          <a:stretch/>
        </p:blipFill>
        <p:spPr>
          <a:xfrm>
            <a:off x="0" y="1"/>
            <a:ext cx="18288000" cy="10287000"/>
          </a:xfrm>
          <a:prstGeom prst="rect">
            <a:avLst/>
          </a:prstGeom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90BEE22D-7AFE-EA70-7C74-D480F4AF646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3600" y="10020300"/>
            <a:ext cx="762000" cy="173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4E9A7D1E-C68E-99FC-A3A2-6D0323B2AD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173"/>
          <a:stretch/>
        </p:blipFill>
        <p:spPr>
          <a:xfrm>
            <a:off x="0" y="3543300"/>
            <a:ext cx="18288000" cy="6743700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A6AB11B3-146E-BF8F-DAC1-680959BE0F2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3600" y="10020300"/>
            <a:ext cx="762000" cy="173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C551F8E5-11EE-924C-720B-85EA1FB2ED5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027F13CC-B416-8049-DF38-43C00A34DC2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3600" y="10020300"/>
            <a:ext cx="762000" cy="173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제목을-입력해주세요_-_-복사본 (2)">
            <a:hlinkClick r:id="" action="ppaction://media"/>
            <a:extLst>
              <a:ext uri="{FF2B5EF4-FFF2-40B4-BE49-F238E27FC236}">
                <a16:creationId xmlns:a16="http://schemas.microsoft.com/office/drawing/2014/main" id="{13AC1204-8BD9-2A8B-3CCB-A5589200370C}"/>
              </a:ext>
            </a:extLst>
          </p:cNvPr>
          <p:cNvPicPr>
            <a:picLocks noChangeAspect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6"/>
          <a:srcRect l="16667" t="9877" r="34375" b="29235"/>
          <a:stretch/>
        </p:blipFill>
        <p:spPr>
          <a:xfrm>
            <a:off x="7467600" y="4229100"/>
            <a:ext cx="2829146" cy="19791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467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video>
              <p:cMediaNode vol="8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7.jpeg"/><Relationship Id="rId5" Type="http://schemas.openxmlformats.org/officeDocument/2006/relationships/image" Target="../media/image8.jpeg"/><Relationship Id="rId6" Type="http://schemas.openxmlformats.org/officeDocument/2006/relationships/image" Target="../media/image9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eg"/><Relationship Id="rId4" Type="http://schemas.openxmlformats.org/officeDocument/2006/relationships/image" Target="../media/image11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jpe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Relationship Id="rId4" Type="http://schemas.openxmlformats.org/officeDocument/2006/relationships/image" Target="../media/image15.jpe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6AD3FC99-D662-017B-5BB5-29335422ED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9533218"/>
              </p:ext>
            </p:extLst>
          </p:nvPr>
        </p:nvGraphicFramePr>
        <p:xfrm>
          <a:off x="2895600" y="3467100"/>
          <a:ext cx="12192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4126889327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4168222689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사용한 폰트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사용한 색상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800915"/>
                  </a:ext>
                </a:extLst>
              </a:tr>
              <a:tr h="883920">
                <a:tc row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800" kern="1200">
                          <a:solidFill>
                            <a:schemeClr val="tx1"/>
                          </a:solidFill>
                          <a:latin typeface="배달의민족 도현" panose="020B0600000101010101" pitchFamily="50" charset="-127"/>
                          <a:ea typeface="배달의민족 도현" panose="020B0600000101010101" pitchFamily="50" charset="-127"/>
                          <a:cs typeface="+mn-cs"/>
                        </a:rPr>
                        <a:t>배달의민족 도현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9411989"/>
                  </a:ext>
                </a:extLst>
              </a:tr>
              <a:tr h="88392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4998949"/>
                  </a:ext>
                </a:extLst>
              </a:tr>
              <a:tr h="88392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kern="120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나눔스퀘어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272265"/>
                  </a:ext>
                </a:extLst>
              </a:tr>
              <a:tr h="88392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8891822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F0581514-DDEE-F3C3-54D5-178B8A7C9863}"/>
              </a:ext>
            </a:extLst>
          </p:cNvPr>
          <p:cNvSpPr/>
          <p:nvPr/>
        </p:nvSpPr>
        <p:spPr>
          <a:xfrm>
            <a:off x="9296400" y="4191000"/>
            <a:ext cx="5562600" cy="609600"/>
          </a:xfrm>
          <a:prstGeom prst="rect">
            <a:avLst/>
          </a:prstGeom>
          <a:solidFill>
            <a:srgbClr val="6297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DFFE09F-8E2B-462A-96BB-0C3B4670CEEB}"/>
              </a:ext>
            </a:extLst>
          </p:cNvPr>
          <p:cNvSpPr/>
          <p:nvPr/>
        </p:nvSpPr>
        <p:spPr>
          <a:xfrm>
            <a:off x="9296400" y="5067300"/>
            <a:ext cx="5562600" cy="609600"/>
          </a:xfrm>
          <a:prstGeom prst="rect">
            <a:avLst/>
          </a:prstGeom>
          <a:solidFill>
            <a:srgbClr val="2D31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B9B67DF-F1AF-100A-4467-153134401AE3}"/>
              </a:ext>
            </a:extLst>
          </p:cNvPr>
          <p:cNvSpPr/>
          <p:nvPr/>
        </p:nvSpPr>
        <p:spPr>
          <a:xfrm>
            <a:off x="9296400" y="5943600"/>
            <a:ext cx="5562600" cy="609600"/>
          </a:xfrm>
          <a:prstGeom prst="rect">
            <a:avLst/>
          </a:prstGeom>
          <a:solidFill>
            <a:srgbClr val="75A5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AA92537-0192-8C9E-9961-E9FC37843801}"/>
              </a:ext>
            </a:extLst>
          </p:cNvPr>
          <p:cNvSpPr/>
          <p:nvPr/>
        </p:nvSpPr>
        <p:spPr>
          <a:xfrm>
            <a:off x="9296400" y="6819900"/>
            <a:ext cx="5562600" cy="609600"/>
          </a:xfrm>
          <a:prstGeom prst="rect">
            <a:avLst/>
          </a:prstGeom>
          <a:solidFill>
            <a:srgbClr val="3EB2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9228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70CBF7-0482-8651-FFD4-DD53B6015200}"/>
              </a:ext>
            </a:extLst>
          </p:cNvPr>
          <p:cNvSpPr txBox="1"/>
          <p:nvPr/>
        </p:nvSpPr>
        <p:spPr>
          <a:xfrm>
            <a:off x="4683600" y="3405753"/>
            <a:ext cx="892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ko-KR" altLang="en-US" sz="7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강사 리더십 프로그램 </a:t>
            </a:r>
            <a:endParaRPr lang="en-US" altLang="ko-KR" sz="72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algn="dist"/>
            <a:r>
              <a:rPr lang="en-US" altLang="ko-KR" sz="7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Lv1 </a:t>
            </a:r>
            <a:r>
              <a:rPr lang="ko-KR" altLang="en-US" sz="7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관계 형성하기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47F397-CA62-E5EC-493B-122F33197ED6}"/>
              </a:ext>
            </a:extLst>
          </p:cNvPr>
          <p:cNvSpPr txBox="1"/>
          <p:nvPr/>
        </p:nvSpPr>
        <p:spPr>
          <a:xfrm>
            <a:off x="6885300" y="6277570"/>
            <a:ext cx="4582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>
                <a:solidFill>
                  <a:schemeClr val="bg1">
                    <a:lumMod val="8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INSTRUCTOR</a:t>
            </a:r>
          </a:p>
          <a:p>
            <a:pPr algn="dist"/>
            <a:r>
              <a:rPr lang="en-US" altLang="ko-KR">
                <a:solidFill>
                  <a:schemeClr val="bg1">
                    <a:lumMod val="8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EVALUATION</a:t>
            </a:r>
          </a:p>
          <a:p>
            <a:pPr algn="dist"/>
            <a:r>
              <a:rPr lang="en-US" altLang="ko-KR">
                <a:solidFill>
                  <a:schemeClr val="bg1">
                    <a:lumMod val="8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FORM</a:t>
            </a:r>
            <a:endParaRPr lang="ko-KR" altLang="en-US">
              <a:solidFill>
                <a:schemeClr val="bg1">
                  <a:lumMod val="8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18F3F1C2-43D9-3EE0-B25B-C9F8AABCEA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5000" y="7277100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표 11">
            <a:extLst>
              <a:ext uri="{FF2B5EF4-FFF2-40B4-BE49-F238E27FC236}">
                <a16:creationId xmlns:a16="http://schemas.microsoft.com/office/drawing/2014/main" id="{28562D65-A4EA-21FD-B441-A46D7B07DB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3435020"/>
              </p:ext>
            </p:extLst>
          </p:nvPr>
        </p:nvGraphicFramePr>
        <p:xfrm>
          <a:off x="6852600" y="7287260"/>
          <a:ext cx="45828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82800">
                  <a:extLst>
                    <a:ext uri="{9D8B030D-6E8A-4147-A177-3AD203B41FA5}">
                      <a16:colId xmlns:a16="http://schemas.microsoft.com/office/drawing/2014/main" val="19111390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교육 중 카메라를 </a:t>
                      </a:r>
                      <a:r>
                        <a:rPr lang="en-US" altLang="ko-KR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ON </a:t>
                      </a:r>
                      <a:r>
                        <a:rPr lang="ko-KR" altLang="en-US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해주시기 바랍니다</a:t>
                      </a:r>
                      <a:r>
                        <a:rPr lang="en-US" altLang="ko-KR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. </a:t>
                      </a:r>
                      <a:endParaRPr lang="ko-KR" altLang="en-US" sz="1800" b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856080"/>
                  </a:ext>
                </a:extLst>
              </a:tr>
            </a:tbl>
          </a:graphicData>
        </a:graphic>
      </p:graphicFrame>
      <p:graphicFrame>
        <p:nvGraphicFramePr>
          <p:cNvPr id="11" name="표 11">
            <a:extLst>
              <a:ext uri="{FF2B5EF4-FFF2-40B4-BE49-F238E27FC236}">
                <a16:creationId xmlns:a16="http://schemas.microsoft.com/office/drawing/2014/main" id="{BEFBB7F8-30D9-3B09-9DF8-BEB48F85CB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50915"/>
              </p:ext>
            </p:extLst>
          </p:nvPr>
        </p:nvGraphicFramePr>
        <p:xfrm>
          <a:off x="6852600" y="2471420"/>
          <a:ext cx="45828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82800">
                  <a:extLst>
                    <a:ext uri="{9D8B030D-6E8A-4147-A177-3AD203B41FA5}">
                      <a16:colId xmlns:a16="http://schemas.microsoft.com/office/drawing/2014/main" val="19111390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COUPANG CS Learning &amp; Development</a:t>
                      </a:r>
                      <a:endParaRPr lang="ko-KR" altLang="en-US" sz="1800" b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856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938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4">
            <a:extLst>
              <a:ext uri="{FF2B5EF4-FFF2-40B4-BE49-F238E27FC236}">
                <a16:creationId xmlns:a16="http://schemas.microsoft.com/office/drawing/2014/main" id="{39A21B44-4DD0-EF21-54CB-CA28CC48D6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391367"/>
              </p:ext>
            </p:extLst>
          </p:nvPr>
        </p:nvGraphicFramePr>
        <p:xfrm>
          <a:off x="2362200" y="4945930"/>
          <a:ext cx="11520000" cy="1873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0">
                  <a:extLst>
                    <a:ext uri="{9D8B030D-6E8A-4147-A177-3AD203B41FA5}">
                      <a16:colId xmlns:a16="http://schemas.microsoft.com/office/drawing/2014/main" val="3456524436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3242548815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604630494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3384028512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3919176253"/>
                    </a:ext>
                  </a:extLst>
                </a:gridCol>
              </a:tblGrid>
              <a:tr h="93673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4000" kern="1200">
                          <a:solidFill>
                            <a:schemeClr val="tx1"/>
                          </a:solidFill>
                          <a:latin typeface="배달의민족 도현" panose="020B0600000101010101" pitchFamily="50" charset="-127"/>
                          <a:ea typeface="배달의민족 도현" panose="020B0600000101010101" pitchFamily="50" charset="-127"/>
                          <a:cs typeface="+mn-cs"/>
                        </a:rPr>
                        <a:t>01</a:t>
                      </a:r>
                      <a:endParaRPr lang="ko-KR" altLang="en-US" sz="4000" kern="1200">
                        <a:solidFill>
                          <a:schemeClr val="tx1"/>
                        </a:solidFill>
                        <a:latin typeface="배달의민족 도현" panose="020B0600000101010101" pitchFamily="50" charset="-127"/>
                        <a:ea typeface="배달의민족 도현" panose="020B0600000101010101" pitchFamily="50" charset="-127"/>
                        <a:cs typeface="+mn-cs"/>
                      </a:endParaRPr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4000" kern="1200">
                          <a:solidFill>
                            <a:schemeClr val="tx1"/>
                          </a:solidFill>
                          <a:latin typeface="배달의민족 도현" panose="020B0600000101010101" pitchFamily="50" charset="-127"/>
                          <a:ea typeface="배달의민족 도현" panose="020B0600000101010101" pitchFamily="50" charset="-127"/>
                          <a:cs typeface="+mn-cs"/>
                        </a:rPr>
                        <a:t>02</a:t>
                      </a:r>
                      <a:endParaRPr lang="ko-KR" altLang="en-US" sz="4000" kern="1200">
                        <a:solidFill>
                          <a:schemeClr val="tx1"/>
                        </a:solidFill>
                        <a:latin typeface="배달의민족 도현" panose="020B0600000101010101" pitchFamily="50" charset="-127"/>
                        <a:ea typeface="배달의민족 도현" panose="020B0600000101010101" pitchFamily="50" charset="-127"/>
                        <a:cs typeface="+mn-cs"/>
                      </a:endParaRPr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000" kern="1200">
                          <a:solidFill>
                            <a:schemeClr val="tx1"/>
                          </a:solidFill>
                          <a:latin typeface="배달의민족 도현" panose="020B0600000101010101" pitchFamily="50" charset="-127"/>
                          <a:ea typeface="배달의민족 도현" panose="020B0600000101010101" pitchFamily="50" charset="-127"/>
                          <a:cs typeface="+mn-cs"/>
                        </a:rPr>
                        <a:t>03</a:t>
                      </a:r>
                      <a:endParaRPr lang="ko-KR" altLang="en-US" sz="4000" kern="1200">
                        <a:solidFill>
                          <a:schemeClr val="tx1"/>
                        </a:solidFill>
                        <a:latin typeface="배달의민족 도현" panose="020B0600000101010101" pitchFamily="50" charset="-127"/>
                        <a:ea typeface="배달의민족 도현" panose="020B0600000101010101" pitchFamily="50" charset="-127"/>
                        <a:cs typeface="+mn-cs"/>
                      </a:endParaRPr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3661356"/>
                  </a:ext>
                </a:extLst>
              </a:tr>
              <a:tr h="93673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200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쿠쿠팡팡 고객 정의하기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200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쿠쿠팡팡 교육 환경 정의하기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좋은 관계를 만드는 리더십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509235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1C81D9F-4F83-7650-2C9A-5ABE56BC96A2}"/>
              </a:ext>
            </a:extLst>
          </p:cNvPr>
          <p:cNvSpPr txBox="1"/>
          <p:nvPr/>
        </p:nvSpPr>
        <p:spPr>
          <a:xfrm>
            <a:off x="2209800" y="3162300"/>
            <a:ext cx="4953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Contetns</a:t>
            </a:r>
            <a:endParaRPr lang="ko-KR" altLang="en-US" sz="60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2814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3D0BD14-566C-C711-8093-52C081660A30}"/>
              </a:ext>
            </a:extLst>
          </p:cNvPr>
          <p:cNvSpPr txBox="1"/>
          <p:nvPr/>
        </p:nvSpPr>
        <p:spPr>
          <a:xfrm>
            <a:off x="2209800" y="3162300"/>
            <a:ext cx="4953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Purpose</a:t>
            </a:r>
            <a:endParaRPr lang="ko-KR" altLang="en-US" sz="60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graphicFrame>
        <p:nvGraphicFramePr>
          <p:cNvPr id="24" name="표 24">
            <a:extLst>
              <a:ext uri="{FF2B5EF4-FFF2-40B4-BE49-F238E27FC236}">
                <a16:creationId xmlns:a16="http://schemas.microsoft.com/office/drawing/2014/main" id="{0632B898-6BE4-B9DC-68F2-D542DBBCEB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992284"/>
              </p:ext>
            </p:extLst>
          </p:nvPr>
        </p:nvGraphicFramePr>
        <p:xfrm>
          <a:off x="2362200" y="4945930"/>
          <a:ext cx="11520000" cy="1416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0000">
                  <a:extLst>
                    <a:ext uri="{9D8B030D-6E8A-4147-A177-3AD203B41FA5}">
                      <a16:colId xmlns:a16="http://schemas.microsoft.com/office/drawing/2014/main" val="3456524436"/>
                    </a:ext>
                  </a:extLst>
                </a:gridCol>
              </a:tblGrid>
              <a:tr h="7083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Rapport</a:t>
                      </a:r>
                      <a:r>
                        <a:rPr lang="ko-KR" altLang="en-US" sz="20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의 정의와 중요성을 이해한다</a:t>
                      </a:r>
                      <a:r>
                        <a:rPr lang="en-US" altLang="ko-KR" sz="20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.</a:t>
                      </a: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3661356"/>
                  </a:ext>
                </a:extLst>
              </a:tr>
              <a:tr h="7083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강의 진행 전 </a:t>
                      </a:r>
                      <a:r>
                        <a:rPr lang="en-US" altLang="ko-KR" sz="200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Rapport</a:t>
                      </a:r>
                      <a:r>
                        <a:rPr lang="ko-KR" altLang="en-US" sz="200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를 형성하여 교육 친밀도를 높일 수 있다</a:t>
                      </a:r>
                      <a:r>
                        <a:rPr lang="en-US" altLang="ko-KR" sz="200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.</a:t>
                      </a:r>
                      <a:endParaRPr lang="ko-KR" altLang="en-US" sz="200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5092356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D75A7684-FD99-9EC4-5D76-1E767216E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3600" y="10020300"/>
            <a:ext cx="762000" cy="173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1476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229377-F789-3C5F-F6B4-E64AF64E6EA6}"/>
              </a:ext>
            </a:extLst>
          </p:cNvPr>
          <p:cNvSpPr txBox="1"/>
          <p:nvPr/>
        </p:nvSpPr>
        <p:spPr>
          <a:xfrm>
            <a:off x="-609600" y="-495300"/>
            <a:ext cx="79248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0" b="1">
                <a:solidFill>
                  <a:srgbClr val="75A5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01</a:t>
            </a:r>
            <a:endParaRPr lang="ko-KR" altLang="en-US" sz="28000" b="1">
              <a:solidFill>
                <a:srgbClr val="75A5E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BEE0AF-52F5-6589-567F-3965E69A80B4}"/>
              </a:ext>
            </a:extLst>
          </p:cNvPr>
          <p:cNvSpPr txBox="1"/>
          <p:nvPr/>
        </p:nvSpPr>
        <p:spPr>
          <a:xfrm>
            <a:off x="6248400" y="4283958"/>
            <a:ext cx="46482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쿠쿠팡팡 강사의 역할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11766DF-6B76-AA3A-3155-E6D8EAA4C0E7}"/>
              </a:ext>
            </a:extLst>
          </p:cNvPr>
          <p:cNvCxnSpPr/>
          <p:nvPr/>
        </p:nvCxnSpPr>
        <p:spPr>
          <a:xfrm>
            <a:off x="6248400" y="5143500"/>
            <a:ext cx="58674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9848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229377-F789-3C5F-F6B4-E64AF64E6EA6}"/>
              </a:ext>
            </a:extLst>
          </p:cNvPr>
          <p:cNvSpPr txBox="1"/>
          <p:nvPr/>
        </p:nvSpPr>
        <p:spPr>
          <a:xfrm>
            <a:off x="-152400" y="-190500"/>
            <a:ext cx="7924800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300" b="1">
                <a:solidFill>
                  <a:srgbClr val="75A5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01-1</a:t>
            </a:r>
            <a:endParaRPr lang="ko-KR" altLang="en-US" sz="11300" b="1">
              <a:solidFill>
                <a:srgbClr val="75A5E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BEE0AF-52F5-6589-567F-3965E69A80B4}"/>
              </a:ext>
            </a:extLst>
          </p:cNvPr>
          <p:cNvSpPr txBox="1"/>
          <p:nvPr/>
        </p:nvSpPr>
        <p:spPr>
          <a:xfrm>
            <a:off x="6248400" y="4283958"/>
            <a:ext cx="61722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쿠쿠팡팡 강사의 자기 평가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11766DF-6B76-AA3A-3155-E6D8EAA4C0E7}"/>
              </a:ext>
            </a:extLst>
          </p:cNvPr>
          <p:cNvCxnSpPr/>
          <p:nvPr/>
        </p:nvCxnSpPr>
        <p:spPr>
          <a:xfrm>
            <a:off x="6248400" y="5143500"/>
            <a:ext cx="58674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1522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61A427-6BC2-563B-FF10-634E57DBE195}"/>
              </a:ext>
            </a:extLst>
          </p:cNvPr>
          <p:cNvSpPr txBox="1"/>
          <p:nvPr/>
        </p:nvSpPr>
        <p:spPr>
          <a:xfrm>
            <a:off x="3657600" y="4340866"/>
            <a:ext cx="10972800" cy="1640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심각한 오류는 잘못된 답 때문에 생기는 것이 아니다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정말 위험한 것은 잘못된 질문을 던지는 것이다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</a:t>
            </a:r>
            <a:endParaRPr lang="ko-KR" altLang="en-US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6CE63E-4FF5-878F-AEAA-012C75244926}"/>
              </a:ext>
            </a:extLst>
          </p:cNvPr>
          <p:cNvSpPr txBox="1"/>
          <p:nvPr/>
        </p:nvSpPr>
        <p:spPr>
          <a:xfrm>
            <a:off x="11277600" y="6286500"/>
            <a:ext cx="3429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i="0">
                <a:solidFill>
                  <a:srgbClr val="4D5156"/>
                </a:solidFill>
                <a:effectLst/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- Peter Ferdinand Drucker</a:t>
            </a:r>
            <a:endParaRPr lang="ko-KR" altLang="en-US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graphicFrame>
        <p:nvGraphicFramePr>
          <p:cNvPr id="3" name="표 11">
            <a:extLst>
              <a:ext uri="{FF2B5EF4-FFF2-40B4-BE49-F238E27FC236}">
                <a16:creationId xmlns:a16="http://schemas.microsoft.com/office/drawing/2014/main" id="{E7387349-CBC0-B6EF-E0D9-9C7094A884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6987736"/>
              </p:ext>
            </p:extLst>
          </p:nvPr>
        </p:nvGraphicFramePr>
        <p:xfrm>
          <a:off x="457200" y="419100"/>
          <a:ext cx="17373600" cy="52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>
                  <a:extLst>
                    <a:ext uri="{9D8B030D-6E8A-4147-A177-3AD203B41FA5}">
                      <a16:colId xmlns:a16="http://schemas.microsoft.com/office/drawing/2014/main" val="1911139076"/>
                    </a:ext>
                  </a:extLst>
                </a:gridCol>
              </a:tblGrid>
              <a:tr h="5232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01. </a:t>
                      </a:r>
                      <a:r>
                        <a:rPr lang="ko-KR" altLang="en-US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쿠쿠팡팡 강사의 역할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856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541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11">
            <a:extLst>
              <a:ext uri="{FF2B5EF4-FFF2-40B4-BE49-F238E27FC236}">
                <a16:creationId xmlns:a16="http://schemas.microsoft.com/office/drawing/2014/main" id="{285E65AF-2E94-7195-8E04-A5E4E71887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1537960"/>
              </p:ext>
            </p:extLst>
          </p:nvPr>
        </p:nvGraphicFramePr>
        <p:xfrm>
          <a:off x="457200" y="419100"/>
          <a:ext cx="17373600" cy="52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>
                  <a:extLst>
                    <a:ext uri="{9D8B030D-6E8A-4147-A177-3AD203B41FA5}">
                      <a16:colId xmlns:a16="http://schemas.microsoft.com/office/drawing/2014/main" val="1911139076"/>
                    </a:ext>
                  </a:extLst>
                </a:gridCol>
              </a:tblGrid>
              <a:tr h="5232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01. </a:t>
                      </a:r>
                      <a:r>
                        <a:rPr lang="ko-KR" altLang="en-US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쿠쿠팡팡 강사의 역할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856080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2D7876EC-5577-AFB9-F8E3-4696A8BB13F3}"/>
              </a:ext>
            </a:extLst>
          </p:cNvPr>
          <p:cNvSpPr/>
          <p:nvPr/>
        </p:nvSpPr>
        <p:spPr>
          <a:xfrm>
            <a:off x="1066800" y="3009900"/>
            <a:ext cx="16344900" cy="4876800"/>
          </a:xfrm>
          <a:prstGeom prst="rect">
            <a:avLst/>
          </a:prstGeom>
          <a:solidFill>
            <a:srgbClr val="F5F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3200"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쿠쿠팡팡의 사업은 무엇입니까</a:t>
            </a:r>
            <a:r>
              <a:rPr lang="en-US" altLang="ko-KR" sz="3200"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?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3200"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쿠쿠팡팡의 고객은 누구입니까</a:t>
            </a:r>
            <a:r>
              <a:rPr lang="en-US" altLang="ko-KR" sz="3200"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?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3200"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쿠쿠팡팡의 고객이 가치있게 여기는 것들은 무엇입니까</a:t>
            </a:r>
            <a:r>
              <a:rPr lang="en-US" altLang="ko-KR" sz="3200"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?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3200"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쿠쿠팡팡이 만들어야하는 결과는 무엇입니까</a:t>
            </a:r>
            <a:r>
              <a:rPr lang="en-US" altLang="ko-KR" sz="3200"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?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3200"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쿠쿠팡팡은 무엇으로 기억되기를 원합니까</a:t>
            </a:r>
            <a:r>
              <a:rPr lang="en-US" altLang="ko-KR" sz="3200"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DB5482-E91B-617E-6C29-138D962DF2A1}"/>
              </a:ext>
            </a:extLst>
          </p:cNvPr>
          <p:cNvSpPr txBox="1"/>
          <p:nvPr/>
        </p:nvSpPr>
        <p:spPr>
          <a:xfrm>
            <a:off x="457200" y="1105907"/>
            <a:ext cx="73152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피터 드러커의 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5</a:t>
            </a: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가지 경영원칙 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#1</a:t>
            </a:r>
            <a:endParaRPr lang="ko-KR" altLang="en-US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93074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D7876EC-5577-AFB9-F8E3-4696A8BB13F3}"/>
              </a:ext>
            </a:extLst>
          </p:cNvPr>
          <p:cNvSpPr/>
          <p:nvPr/>
        </p:nvSpPr>
        <p:spPr>
          <a:xfrm>
            <a:off x="609600" y="2145030"/>
            <a:ext cx="17145000" cy="4343400"/>
          </a:xfrm>
          <a:prstGeom prst="rect">
            <a:avLst/>
          </a:prstGeom>
          <a:solidFill>
            <a:srgbClr val="F5F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피터 드러커의 </a:t>
            </a:r>
            <a:r>
              <a:rPr lang="en-US" altLang="ko-KR" sz="2400"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5</a:t>
            </a:r>
            <a:r>
              <a:rPr lang="ko-KR" altLang="en-US" sz="2400"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가지 경영원칙 </a:t>
            </a:r>
            <a:endParaRPr lang="en-US" altLang="ko-KR" sz="2400">
              <a:solidFill>
                <a:schemeClr val="tx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쿠쿠팡팡 </a:t>
            </a:r>
            <a:r>
              <a:rPr lang="ko-KR" altLang="en-US" sz="2400">
                <a:solidFill>
                  <a:schemeClr val="accent6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강사</a:t>
            </a:r>
            <a:r>
              <a:rPr lang="ko-KR" altLang="en-US" sz="2400"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의 사업은 무엇입니까</a:t>
            </a:r>
            <a:r>
              <a:rPr lang="en-US" altLang="ko-KR" sz="2400"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?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쿠쿠팡팡 </a:t>
            </a:r>
            <a:r>
              <a:rPr lang="ko-KR" altLang="en-US" sz="2400">
                <a:solidFill>
                  <a:schemeClr val="accent6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강사</a:t>
            </a:r>
            <a:r>
              <a:rPr lang="ko-KR" altLang="en-US" sz="2400"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의 고객은 누구입니까</a:t>
            </a:r>
            <a:r>
              <a:rPr lang="en-US" altLang="ko-KR" sz="2400"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?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쿠쿠팡팡 </a:t>
            </a:r>
            <a:r>
              <a:rPr lang="ko-KR" altLang="en-US" sz="2400">
                <a:solidFill>
                  <a:schemeClr val="accent6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강사</a:t>
            </a:r>
            <a:r>
              <a:rPr lang="ko-KR" altLang="en-US" sz="2400"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의 고객이 가치있게 여기는 것들은 무엇입니까</a:t>
            </a:r>
            <a:r>
              <a:rPr lang="en-US" altLang="ko-KR" sz="2400"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?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쿠쿠팡팡 </a:t>
            </a:r>
            <a:r>
              <a:rPr lang="ko-KR" altLang="en-US" sz="2400">
                <a:solidFill>
                  <a:schemeClr val="accent6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강사</a:t>
            </a:r>
            <a:r>
              <a:rPr lang="ko-KR" altLang="en-US" sz="2400"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가 만들어야하는 결과는 무엇입니까</a:t>
            </a:r>
            <a:r>
              <a:rPr lang="en-US" altLang="ko-KR" sz="2400"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?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400"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쿠쿠팡팡 </a:t>
            </a:r>
            <a:r>
              <a:rPr lang="ko-KR" altLang="en-US" sz="2400">
                <a:solidFill>
                  <a:schemeClr val="accent6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강사</a:t>
            </a:r>
            <a:r>
              <a:rPr lang="ko-KR" altLang="en-US" sz="2400"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는 무엇으로 기억되기를 원합니까</a:t>
            </a:r>
            <a:r>
              <a:rPr lang="en-US" altLang="ko-KR" sz="2400"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DB5482-E91B-617E-6C29-138D962DF2A1}"/>
              </a:ext>
            </a:extLst>
          </p:cNvPr>
          <p:cNvSpPr txBox="1"/>
          <p:nvPr/>
        </p:nvSpPr>
        <p:spPr>
          <a:xfrm>
            <a:off x="457200" y="1109082"/>
            <a:ext cx="76200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피터 드러커의 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5</a:t>
            </a: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가지 경영원칙 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#2</a:t>
            </a:r>
            <a:endParaRPr lang="ko-KR" altLang="en-US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632DEF1-3094-CC5B-18BF-60A49B5EBD2C}"/>
              </a:ext>
            </a:extLst>
          </p:cNvPr>
          <p:cNvSpPr/>
          <p:nvPr/>
        </p:nvSpPr>
        <p:spPr>
          <a:xfrm>
            <a:off x="609600" y="6667500"/>
            <a:ext cx="17145000" cy="3505200"/>
          </a:xfrm>
          <a:prstGeom prst="rect">
            <a:avLst/>
          </a:prstGeom>
          <a:solidFill>
            <a:srgbClr val="F5F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200"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실습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3200"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3~4</a:t>
            </a:r>
            <a:r>
              <a:rPr lang="ko-KR" altLang="en-US" sz="3200"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명을 한팀으로 조직합니다</a:t>
            </a:r>
            <a:r>
              <a:rPr lang="en-US" altLang="ko-KR" sz="3200"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200"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각 팀별로 소규모 회의실에 모여 토론을 하고</a:t>
            </a:r>
            <a:r>
              <a:rPr lang="en-US" altLang="ko-KR" sz="3200"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3~5</a:t>
            </a:r>
            <a:r>
              <a:rPr lang="ko-KR" altLang="en-US" sz="3200"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분간 질문들에 대한 답변을 작성합니다</a:t>
            </a:r>
            <a:r>
              <a:rPr lang="en-US" altLang="ko-KR" sz="3200"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200"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전체 회의실에 모여 각 질문에 대한 답을 공유합니다</a:t>
            </a:r>
            <a:r>
              <a:rPr lang="en-US" altLang="ko-KR" sz="3200"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</a:t>
            </a:r>
          </a:p>
        </p:txBody>
      </p:sp>
      <p:graphicFrame>
        <p:nvGraphicFramePr>
          <p:cNvPr id="5" name="표 11">
            <a:extLst>
              <a:ext uri="{FF2B5EF4-FFF2-40B4-BE49-F238E27FC236}">
                <a16:creationId xmlns:a16="http://schemas.microsoft.com/office/drawing/2014/main" id="{1AE5E934-7BAD-8582-F7B6-F7736D4322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346408"/>
              </p:ext>
            </p:extLst>
          </p:nvPr>
        </p:nvGraphicFramePr>
        <p:xfrm>
          <a:off x="457200" y="419100"/>
          <a:ext cx="17373600" cy="52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>
                  <a:extLst>
                    <a:ext uri="{9D8B030D-6E8A-4147-A177-3AD203B41FA5}">
                      <a16:colId xmlns:a16="http://schemas.microsoft.com/office/drawing/2014/main" val="1911139076"/>
                    </a:ext>
                  </a:extLst>
                </a:gridCol>
              </a:tblGrid>
              <a:tr h="5232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01. </a:t>
                      </a:r>
                      <a:r>
                        <a:rPr lang="ko-KR" altLang="en-US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쿠쿠팡팡 강사의 역할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856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5924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229377-F789-3C5F-F6B4-E64AF64E6EA6}"/>
              </a:ext>
            </a:extLst>
          </p:cNvPr>
          <p:cNvSpPr txBox="1"/>
          <p:nvPr/>
        </p:nvSpPr>
        <p:spPr>
          <a:xfrm>
            <a:off x="-152400" y="-116771"/>
            <a:ext cx="8610600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300" b="1">
                <a:solidFill>
                  <a:srgbClr val="75A5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01-2</a:t>
            </a:r>
            <a:endParaRPr lang="ko-KR" altLang="en-US" sz="11300" b="1">
              <a:solidFill>
                <a:srgbClr val="75A5E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BEE0AF-52F5-6589-567F-3965E69A80B4}"/>
              </a:ext>
            </a:extLst>
          </p:cNvPr>
          <p:cNvSpPr txBox="1"/>
          <p:nvPr/>
        </p:nvSpPr>
        <p:spPr>
          <a:xfrm>
            <a:off x="6248400" y="4283958"/>
            <a:ext cx="61722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고객 여정 지도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11766DF-6B76-AA3A-3155-E6D8EAA4C0E7}"/>
              </a:ext>
            </a:extLst>
          </p:cNvPr>
          <p:cNvCxnSpPr/>
          <p:nvPr/>
        </p:nvCxnSpPr>
        <p:spPr>
          <a:xfrm>
            <a:off x="6248400" y="5143500"/>
            <a:ext cx="58674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705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61A427-6BC2-563B-FF10-634E57DBE195}"/>
              </a:ext>
            </a:extLst>
          </p:cNvPr>
          <p:cNvSpPr txBox="1"/>
          <p:nvPr/>
        </p:nvSpPr>
        <p:spPr>
          <a:xfrm>
            <a:off x="2057400" y="4686300"/>
            <a:ext cx="14249400" cy="832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여행 계획표를 작성할 때 반드시 포함되어야 하는 사항들은 무엇입니까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?</a:t>
            </a:r>
            <a:endParaRPr lang="ko-KR" altLang="en-US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graphicFrame>
        <p:nvGraphicFramePr>
          <p:cNvPr id="3" name="표 11">
            <a:extLst>
              <a:ext uri="{FF2B5EF4-FFF2-40B4-BE49-F238E27FC236}">
                <a16:creationId xmlns:a16="http://schemas.microsoft.com/office/drawing/2014/main" id="{3236A7E2-3A31-9075-9166-4E754EB4D7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55135"/>
              </p:ext>
            </p:extLst>
          </p:nvPr>
        </p:nvGraphicFramePr>
        <p:xfrm>
          <a:off x="457200" y="419100"/>
          <a:ext cx="17373600" cy="52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>
                  <a:extLst>
                    <a:ext uri="{9D8B030D-6E8A-4147-A177-3AD203B41FA5}">
                      <a16:colId xmlns:a16="http://schemas.microsoft.com/office/drawing/2014/main" val="1911139076"/>
                    </a:ext>
                  </a:extLst>
                </a:gridCol>
              </a:tblGrid>
              <a:tr h="5232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01. </a:t>
                      </a:r>
                      <a:r>
                        <a:rPr lang="ko-KR" altLang="en-US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쿠쿠팡팡 강사의 역할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856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3036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고객 여정 지도 쉽게 그리는 방법?">
            <a:extLst>
              <a:ext uri="{FF2B5EF4-FFF2-40B4-BE49-F238E27FC236}">
                <a16:creationId xmlns:a16="http://schemas.microsoft.com/office/drawing/2014/main" id="{9545893F-318F-D531-7311-5D04297A48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8" t="31097" r="2745" b="4715"/>
          <a:stretch/>
        </p:blipFill>
        <p:spPr bwMode="auto">
          <a:xfrm>
            <a:off x="726440" y="1943100"/>
            <a:ext cx="7848600" cy="3007996"/>
          </a:xfrm>
          <a:prstGeom prst="rect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고객 여정: 무엇이며, 어떻게 설계해야 할까요? | Freshdesk">
            <a:extLst>
              <a:ext uri="{FF2B5EF4-FFF2-40B4-BE49-F238E27FC236}">
                <a16:creationId xmlns:a16="http://schemas.microsoft.com/office/drawing/2014/main" id="{9FB03C92-E7C3-F88A-DB18-8F358EA1F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220" y="5143500"/>
            <a:ext cx="7813040" cy="5105400"/>
          </a:xfrm>
          <a:prstGeom prst="rect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0F52EBC3-62F5-DC23-8CE7-F936CF88C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0" y="6643795"/>
            <a:ext cx="9275446" cy="3605105"/>
          </a:xfrm>
          <a:prstGeom prst="rect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진실의 순간에 집중해 성공한 기업들 │ 매거진한경">
            <a:extLst>
              <a:ext uri="{FF2B5EF4-FFF2-40B4-BE49-F238E27FC236}">
                <a16:creationId xmlns:a16="http://schemas.microsoft.com/office/drawing/2014/main" id="{328532AB-23F3-F9D5-C66B-E315C24619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30"/>
          <a:stretch/>
        </p:blipFill>
        <p:spPr bwMode="auto">
          <a:xfrm>
            <a:off x="8762999" y="1943100"/>
            <a:ext cx="8425971" cy="4472095"/>
          </a:xfrm>
          <a:prstGeom prst="rect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5C52BC6-1B3B-CEBA-B0B7-F2F66CF224D8}"/>
              </a:ext>
            </a:extLst>
          </p:cNvPr>
          <p:cNvSpPr txBox="1"/>
          <p:nvPr/>
        </p:nvSpPr>
        <p:spPr>
          <a:xfrm>
            <a:off x="457200" y="1083558"/>
            <a:ext cx="61722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타사의 고객 여정 지도</a:t>
            </a:r>
          </a:p>
        </p:txBody>
      </p:sp>
      <p:graphicFrame>
        <p:nvGraphicFramePr>
          <p:cNvPr id="4" name="표 11">
            <a:extLst>
              <a:ext uri="{FF2B5EF4-FFF2-40B4-BE49-F238E27FC236}">
                <a16:creationId xmlns:a16="http://schemas.microsoft.com/office/drawing/2014/main" id="{9352787B-BCCC-E9B9-14F7-F45882647C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9753356"/>
              </p:ext>
            </p:extLst>
          </p:nvPr>
        </p:nvGraphicFramePr>
        <p:xfrm>
          <a:off x="457200" y="419100"/>
          <a:ext cx="17373600" cy="52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>
                  <a:extLst>
                    <a:ext uri="{9D8B030D-6E8A-4147-A177-3AD203B41FA5}">
                      <a16:colId xmlns:a16="http://schemas.microsoft.com/office/drawing/2014/main" val="1911139076"/>
                    </a:ext>
                  </a:extLst>
                </a:gridCol>
              </a:tblGrid>
              <a:tr h="5232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01. </a:t>
                      </a:r>
                      <a:r>
                        <a:rPr lang="ko-KR" altLang="en-US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쿠쿠팡팡 강사의 역할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856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3865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4678C554-BFFF-B9FE-A37B-94D8F03A8F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1169102"/>
              </p:ext>
            </p:extLst>
          </p:nvPr>
        </p:nvGraphicFramePr>
        <p:xfrm>
          <a:off x="495300" y="4890660"/>
          <a:ext cx="17297399" cy="524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1057">
                  <a:extLst>
                    <a:ext uri="{9D8B030D-6E8A-4147-A177-3AD203B41FA5}">
                      <a16:colId xmlns:a16="http://schemas.microsoft.com/office/drawing/2014/main" val="621451244"/>
                    </a:ext>
                  </a:extLst>
                </a:gridCol>
                <a:gridCol w="2471057">
                  <a:extLst>
                    <a:ext uri="{9D8B030D-6E8A-4147-A177-3AD203B41FA5}">
                      <a16:colId xmlns:a16="http://schemas.microsoft.com/office/drawing/2014/main" val="3132772294"/>
                    </a:ext>
                  </a:extLst>
                </a:gridCol>
                <a:gridCol w="2471057">
                  <a:extLst>
                    <a:ext uri="{9D8B030D-6E8A-4147-A177-3AD203B41FA5}">
                      <a16:colId xmlns:a16="http://schemas.microsoft.com/office/drawing/2014/main" val="638131103"/>
                    </a:ext>
                  </a:extLst>
                </a:gridCol>
                <a:gridCol w="2471057">
                  <a:extLst>
                    <a:ext uri="{9D8B030D-6E8A-4147-A177-3AD203B41FA5}">
                      <a16:colId xmlns:a16="http://schemas.microsoft.com/office/drawing/2014/main" val="4059442264"/>
                    </a:ext>
                  </a:extLst>
                </a:gridCol>
                <a:gridCol w="2471057">
                  <a:extLst>
                    <a:ext uri="{9D8B030D-6E8A-4147-A177-3AD203B41FA5}">
                      <a16:colId xmlns:a16="http://schemas.microsoft.com/office/drawing/2014/main" val="3071499346"/>
                    </a:ext>
                  </a:extLst>
                </a:gridCol>
                <a:gridCol w="2471057">
                  <a:extLst>
                    <a:ext uri="{9D8B030D-6E8A-4147-A177-3AD203B41FA5}">
                      <a16:colId xmlns:a16="http://schemas.microsoft.com/office/drawing/2014/main" val="714567987"/>
                    </a:ext>
                  </a:extLst>
                </a:gridCol>
                <a:gridCol w="2471057">
                  <a:extLst>
                    <a:ext uri="{9D8B030D-6E8A-4147-A177-3AD203B41FA5}">
                      <a16:colId xmlns:a16="http://schemas.microsoft.com/office/drawing/2014/main" val="508542722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>
                        <a:latin typeface="배달의민족 도현" panose="020B0600000101010101" pitchFamily="50" charset="-127"/>
                        <a:ea typeface="배달의민족 도현" panose="020B0600000101010101" pitchFamily="50" charset="-127"/>
                      </a:endParaRPr>
                    </a:p>
                  </a:txBody>
                  <a:tcPr anchor="ctr">
                    <a:solidFill>
                      <a:srgbClr val="2D318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>
                          <a:latin typeface="배달의민족 도현" panose="020B0600000101010101" pitchFamily="50" charset="-127"/>
                          <a:ea typeface="배달의민족 도현" panose="020B0600000101010101" pitchFamily="50" charset="-127"/>
                        </a:rPr>
                        <a:t>신입 교육</a:t>
                      </a:r>
                    </a:p>
                  </a:txBody>
                  <a:tcPr anchor="ctr">
                    <a:solidFill>
                      <a:srgbClr val="2D318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>
                          <a:latin typeface="배달의민족 도현" panose="020B0600000101010101" pitchFamily="50" charset="-127"/>
                          <a:ea typeface="배달의민족 도현" panose="020B0600000101010101" pitchFamily="50" charset="-127"/>
                        </a:rPr>
                        <a:t> </a:t>
                      </a:r>
                      <a:r>
                        <a:rPr lang="en-US" altLang="ko-KR" sz="2400">
                          <a:latin typeface="배달의민족 도현" panose="020B0600000101010101" pitchFamily="50" charset="-127"/>
                          <a:ea typeface="배달의민족 도현" panose="020B0600000101010101" pitchFamily="50" charset="-127"/>
                        </a:rPr>
                        <a:t>OJT </a:t>
                      </a:r>
                      <a:r>
                        <a:rPr lang="ko-KR" altLang="en-US" sz="2400">
                          <a:latin typeface="배달의민족 도현" panose="020B0600000101010101" pitchFamily="50" charset="-127"/>
                          <a:ea typeface="배달의민족 도현" panose="020B0600000101010101" pitchFamily="50" charset="-127"/>
                        </a:rPr>
                        <a:t>교육</a:t>
                      </a:r>
                    </a:p>
                  </a:txBody>
                  <a:tcPr anchor="ctr">
                    <a:solidFill>
                      <a:srgbClr val="2D318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>
                          <a:latin typeface="배달의민족 도현" panose="020B0600000101010101" pitchFamily="50" charset="-127"/>
                          <a:ea typeface="배달의민족 도현" panose="020B0600000101010101" pitchFamily="50" charset="-127"/>
                        </a:rPr>
                        <a:t>3</a:t>
                      </a:r>
                      <a:r>
                        <a:rPr lang="ko-KR" altLang="en-US" sz="2400">
                          <a:latin typeface="배달의민족 도현" panose="020B0600000101010101" pitchFamily="50" charset="-127"/>
                          <a:ea typeface="배달의민족 도현" panose="020B0600000101010101" pitchFamily="50" charset="-127"/>
                        </a:rPr>
                        <a:t>개월</a:t>
                      </a:r>
                    </a:p>
                  </a:txBody>
                  <a:tcPr anchor="ctr">
                    <a:solidFill>
                      <a:srgbClr val="2D318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>
                          <a:latin typeface="배달의민족 도현" panose="020B0600000101010101" pitchFamily="50" charset="-127"/>
                          <a:ea typeface="배달의민족 도현" panose="020B0600000101010101" pitchFamily="50" charset="-127"/>
                        </a:rPr>
                        <a:t>6</a:t>
                      </a:r>
                      <a:r>
                        <a:rPr lang="ko-KR" altLang="en-US" sz="2400">
                          <a:latin typeface="배달의민족 도현" panose="020B0600000101010101" pitchFamily="50" charset="-127"/>
                          <a:ea typeface="배달의민족 도현" panose="020B0600000101010101" pitchFamily="50" charset="-127"/>
                        </a:rPr>
                        <a:t>개월</a:t>
                      </a:r>
                    </a:p>
                  </a:txBody>
                  <a:tcPr anchor="ctr">
                    <a:solidFill>
                      <a:srgbClr val="2D318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>
                          <a:latin typeface="배달의민족 도현" panose="020B0600000101010101" pitchFamily="50" charset="-127"/>
                          <a:ea typeface="배달의민족 도현" panose="020B0600000101010101" pitchFamily="50" charset="-127"/>
                        </a:rPr>
                        <a:t>1</a:t>
                      </a:r>
                      <a:r>
                        <a:rPr lang="ko-KR" altLang="en-US" sz="2400">
                          <a:latin typeface="배달의민족 도현" panose="020B0600000101010101" pitchFamily="50" charset="-127"/>
                          <a:ea typeface="배달의민족 도현" panose="020B0600000101010101" pitchFamily="50" charset="-127"/>
                        </a:rPr>
                        <a:t>년</a:t>
                      </a:r>
                    </a:p>
                  </a:txBody>
                  <a:tcPr anchor="ctr">
                    <a:solidFill>
                      <a:srgbClr val="2D318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>
                          <a:latin typeface="배달의민족 도현" panose="020B0600000101010101" pitchFamily="50" charset="-127"/>
                          <a:ea typeface="배달의민족 도현" panose="020B0600000101010101" pitchFamily="50" charset="-127"/>
                        </a:rPr>
                        <a:t>2</a:t>
                      </a:r>
                      <a:r>
                        <a:rPr lang="ko-KR" altLang="en-US" sz="2400">
                          <a:latin typeface="배달의민족 도현" panose="020B0600000101010101" pitchFamily="50" charset="-127"/>
                          <a:ea typeface="배달의민족 도현" panose="020B0600000101010101" pitchFamily="50" charset="-127"/>
                        </a:rPr>
                        <a:t>년 이상</a:t>
                      </a:r>
                    </a:p>
                  </a:txBody>
                  <a:tcPr anchor="ctr">
                    <a:solidFill>
                      <a:srgbClr val="2D31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9451265"/>
                  </a:ext>
                </a:extLst>
              </a:tr>
              <a:tr h="993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400">
                          <a:latin typeface="배달의민족 도현" panose="020B0600000101010101" pitchFamily="50" charset="-127"/>
                          <a:ea typeface="배달의민족 도현" panose="020B0600000101010101" pitchFamily="50" charset="-127"/>
                        </a:rPr>
                        <a:t>행동 특징</a:t>
                      </a:r>
                    </a:p>
                  </a:txBody>
                  <a:tcPr>
                    <a:solidFill>
                      <a:srgbClr val="86BBF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배달의민족 도현" panose="020B0600000101010101" pitchFamily="50" charset="-127"/>
                        <a:ea typeface="배달의민족 도현" panose="020B0600000101010101" pitchFamily="50" charset="-127"/>
                      </a:endParaRPr>
                    </a:p>
                  </a:txBody>
                  <a:tcPr>
                    <a:solidFill>
                      <a:srgbClr val="86BBF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배달의민족 도현" panose="020B0600000101010101" pitchFamily="50" charset="-127"/>
                        <a:ea typeface="배달의민족 도현" panose="020B0600000101010101" pitchFamily="50" charset="-127"/>
                      </a:endParaRPr>
                    </a:p>
                  </a:txBody>
                  <a:tcPr>
                    <a:solidFill>
                      <a:srgbClr val="86BBF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배달의민족 도현" panose="020B0600000101010101" pitchFamily="50" charset="-127"/>
                        <a:ea typeface="배달의민족 도현" panose="020B0600000101010101" pitchFamily="50" charset="-127"/>
                      </a:endParaRPr>
                    </a:p>
                  </a:txBody>
                  <a:tcPr>
                    <a:solidFill>
                      <a:srgbClr val="86BBF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배달의민족 도현" panose="020B0600000101010101" pitchFamily="50" charset="-127"/>
                        <a:ea typeface="배달의민족 도현" panose="020B0600000101010101" pitchFamily="50" charset="-127"/>
                      </a:endParaRPr>
                    </a:p>
                  </a:txBody>
                  <a:tcPr>
                    <a:solidFill>
                      <a:srgbClr val="86BBF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배달의민족 도현" panose="020B0600000101010101" pitchFamily="50" charset="-127"/>
                        <a:ea typeface="배달의민족 도현" panose="020B0600000101010101" pitchFamily="50" charset="-127"/>
                      </a:endParaRPr>
                    </a:p>
                  </a:txBody>
                  <a:tcPr>
                    <a:solidFill>
                      <a:srgbClr val="86BBF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배달의민족 도현" panose="020B0600000101010101" pitchFamily="50" charset="-127"/>
                        <a:ea typeface="배달의민족 도현" panose="020B0600000101010101" pitchFamily="50" charset="-127"/>
                      </a:endParaRPr>
                    </a:p>
                  </a:txBody>
                  <a:tcPr>
                    <a:solidFill>
                      <a:srgbClr val="86B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7278770"/>
                  </a:ext>
                </a:extLst>
              </a:tr>
              <a:tr h="993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400">
                          <a:latin typeface="배달의민족 도현" panose="020B0600000101010101" pitchFamily="50" charset="-127"/>
                          <a:ea typeface="배달의민족 도현" panose="020B0600000101010101" pitchFamily="50" charset="-127"/>
                        </a:rPr>
                        <a:t>원하는 것들</a:t>
                      </a:r>
                    </a:p>
                  </a:txBody>
                  <a:tcPr>
                    <a:solidFill>
                      <a:srgbClr val="86BBF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배달의민족 도현" panose="020B0600000101010101" pitchFamily="50" charset="-127"/>
                        <a:ea typeface="배달의민족 도현" panose="020B0600000101010101" pitchFamily="50" charset="-127"/>
                      </a:endParaRPr>
                    </a:p>
                  </a:txBody>
                  <a:tcPr>
                    <a:solidFill>
                      <a:srgbClr val="86BBF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배달의민족 도현" panose="020B0600000101010101" pitchFamily="50" charset="-127"/>
                        <a:ea typeface="배달의민족 도현" panose="020B0600000101010101" pitchFamily="50" charset="-127"/>
                      </a:endParaRPr>
                    </a:p>
                  </a:txBody>
                  <a:tcPr>
                    <a:solidFill>
                      <a:srgbClr val="86BBF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배달의민족 도현" panose="020B0600000101010101" pitchFamily="50" charset="-127"/>
                        <a:ea typeface="배달의민족 도현" panose="020B0600000101010101" pitchFamily="50" charset="-127"/>
                      </a:endParaRPr>
                    </a:p>
                  </a:txBody>
                  <a:tcPr>
                    <a:solidFill>
                      <a:srgbClr val="86BBF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배달의민족 도현" panose="020B0600000101010101" pitchFamily="50" charset="-127"/>
                        <a:ea typeface="배달의민족 도현" panose="020B0600000101010101" pitchFamily="50" charset="-127"/>
                      </a:endParaRPr>
                    </a:p>
                  </a:txBody>
                  <a:tcPr>
                    <a:solidFill>
                      <a:srgbClr val="86BBF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배달의민족 도현" panose="020B0600000101010101" pitchFamily="50" charset="-127"/>
                        <a:ea typeface="배달의민족 도현" panose="020B0600000101010101" pitchFamily="50" charset="-127"/>
                      </a:endParaRPr>
                    </a:p>
                  </a:txBody>
                  <a:tcPr>
                    <a:solidFill>
                      <a:srgbClr val="86BBF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배달의민족 도현" panose="020B0600000101010101" pitchFamily="50" charset="-127"/>
                        <a:ea typeface="배달의민족 도현" panose="020B0600000101010101" pitchFamily="50" charset="-127"/>
                      </a:endParaRPr>
                    </a:p>
                  </a:txBody>
                  <a:tcPr>
                    <a:solidFill>
                      <a:srgbClr val="86B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83851"/>
                  </a:ext>
                </a:extLst>
              </a:tr>
              <a:tr h="993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400">
                          <a:latin typeface="배달의민족 도현" panose="020B0600000101010101" pitchFamily="50" charset="-127"/>
                          <a:ea typeface="배달의민족 도현" panose="020B0600000101010101" pitchFamily="50" charset="-127"/>
                        </a:rPr>
                        <a:t>교육 시 </a:t>
                      </a:r>
                      <a:br>
                        <a:rPr lang="en-US" altLang="ko-KR" sz="2400">
                          <a:latin typeface="배달의민족 도현" panose="020B0600000101010101" pitchFamily="50" charset="-127"/>
                          <a:ea typeface="배달의민족 도현" panose="020B0600000101010101" pitchFamily="50" charset="-127"/>
                        </a:rPr>
                      </a:br>
                      <a:r>
                        <a:rPr lang="ko-KR" altLang="en-US" sz="2400">
                          <a:latin typeface="배달의민족 도현" panose="020B0600000101010101" pitchFamily="50" charset="-127"/>
                          <a:ea typeface="배달의민족 도현" panose="020B0600000101010101" pitchFamily="50" charset="-127"/>
                        </a:rPr>
                        <a:t>주의해야할 점</a:t>
                      </a:r>
                    </a:p>
                  </a:txBody>
                  <a:tcPr>
                    <a:solidFill>
                      <a:srgbClr val="86BBF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배달의민족 도현" panose="020B0600000101010101" pitchFamily="50" charset="-127"/>
                        <a:ea typeface="배달의민족 도현" panose="020B0600000101010101" pitchFamily="50" charset="-127"/>
                      </a:endParaRPr>
                    </a:p>
                  </a:txBody>
                  <a:tcPr>
                    <a:solidFill>
                      <a:srgbClr val="86BBF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배달의민족 도현" panose="020B0600000101010101" pitchFamily="50" charset="-127"/>
                        <a:ea typeface="배달의민족 도현" panose="020B0600000101010101" pitchFamily="50" charset="-127"/>
                      </a:endParaRPr>
                    </a:p>
                  </a:txBody>
                  <a:tcPr>
                    <a:solidFill>
                      <a:srgbClr val="86BBF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배달의민족 도현" panose="020B0600000101010101" pitchFamily="50" charset="-127"/>
                        <a:ea typeface="배달의민족 도현" panose="020B0600000101010101" pitchFamily="50" charset="-127"/>
                      </a:endParaRPr>
                    </a:p>
                  </a:txBody>
                  <a:tcPr>
                    <a:solidFill>
                      <a:srgbClr val="86BBF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배달의민족 도현" panose="020B0600000101010101" pitchFamily="50" charset="-127"/>
                        <a:ea typeface="배달의민족 도현" panose="020B0600000101010101" pitchFamily="50" charset="-127"/>
                      </a:endParaRPr>
                    </a:p>
                  </a:txBody>
                  <a:tcPr>
                    <a:solidFill>
                      <a:srgbClr val="86BBF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배달의민족 도현" panose="020B0600000101010101" pitchFamily="50" charset="-127"/>
                        <a:ea typeface="배달의민족 도현" panose="020B0600000101010101" pitchFamily="50" charset="-127"/>
                      </a:endParaRPr>
                    </a:p>
                  </a:txBody>
                  <a:tcPr>
                    <a:solidFill>
                      <a:srgbClr val="86BBF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배달의민족 도현" panose="020B0600000101010101" pitchFamily="50" charset="-127"/>
                        <a:ea typeface="배달의민족 도현" panose="020B0600000101010101" pitchFamily="50" charset="-127"/>
                      </a:endParaRPr>
                    </a:p>
                  </a:txBody>
                  <a:tcPr>
                    <a:solidFill>
                      <a:srgbClr val="86B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106253"/>
                  </a:ext>
                </a:extLst>
              </a:tr>
              <a:tr h="9933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400">
                          <a:latin typeface="배달의민족 도현" panose="020B0600000101010101" pitchFamily="50" charset="-127"/>
                          <a:ea typeface="배달의민족 도현" panose="020B0600000101010101" pitchFamily="50" charset="-127"/>
                        </a:rPr>
                        <a:t>지식 향상을 위해</a:t>
                      </a:r>
                      <a:br>
                        <a:rPr lang="en-US" altLang="ko-KR" sz="2400">
                          <a:latin typeface="배달의민족 도현" panose="020B0600000101010101" pitchFamily="50" charset="-127"/>
                          <a:ea typeface="배달의민족 도현" panose="020B0600000101010101" pitchFamily="50" charset="-127"/>
                        </a:rPr>
                      </a:br>
                      <a:r>
                        <a:rPr lang="ko-KR" altLang="en-US" sz="2400">
                          <a:latin typeface="배달의민족 도현" panose="020B0600000101010101" pitchFamily="50" charset="-127"/>
                          <a:ea typeface="배달의민족 도현" panose="020B0600000101010101" pitchFamily="50" charset="-127"/>
                        </a:rPr>
                        <a:t>필요한 교육</a:t>
                      </a:r>
                    </a:p>
                    <a:p>
                      <a:pPr latinLnBrk="1"/>
                      <a:endParaRPr lang="ko-KR" altLang="en-US" sz="2400">
                        <a:latin typeface="배달의민족 도현" panose="020B0600000101010101" pitchFamily="50" charset="-127"/>
                        <a:ea typeface="배달의민족 도현" panose="020B0600000101010101" pitchFamily="50" charset="-127"/>
                      </a:endParaRPr>
                    </a:p>
                  </a:txBody>
                  <a:tcPr>
                    <a:solidFill>
                      <a:srgbClr val="86BBF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배달의민족 도현" panose="020B0600000101010101" pitchFamily="50" charset="-127"/>
                        <a:ea typeface="배달의민족 도현" panose="020B0600000101010101" pitchFamily="50" charset="-127"/>
                      </a:endParaRPr>
                    </a:p>
                  </a:txBody>
                  <a:tcPr>
                    <a:solidFill>
                      <a:srgbClr val="86BBF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배달의민족 도현" panose="020B0600000101010101" pitchFamily="50" charset="-127"/>
                        <a:ea typeface="배달의민족 도현" panose="020B0600000101010101" pitchFamily="50" charset="-127"/>
                      </a:endParaRPr>
                    </a:p>
                  </a:txBody>
                  <a:tcPr>
                    <a:solidFill>
                      <a:srgbClr val="86BBF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배달의민족 도현" panose="020B0600000101010101" pitchFamily="50" charset="-127"/>
                        <a:ea typeface="배달의민족 도현" panose="020B0600000101010101" pitchFamily="50" charset="-127"/>
                      </a:endParaRPr>
                    </a:p>
                  </a:txBody>
                  <a:tcPr>
                    <a:solidFill>
                      <a:srgbClr val="86BBF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배달의민족 도현" panose="020B0600000101010101" pitchFamily="50" charset="-127"/>
                        <a:ea typeface="배달의민족 도현" panose="020B0600000101010101" pitchFamily="50" charset="-127"/>
                      </a:endParaRPr>
                    </a:p>
                  </a:txBody>
                  <a:tcPr>
                    <a:solidFill>
                      <a:srgbClr val="86BBF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배달의민족 도현" panose="020B0600000101010101" pitchFamily="50" charset="-127"/>
                        <a:ea typeface="배달의민족 도현" panose="020B0600000101010101" pitchFamily="50" charset="-127"/>
                      </a:endParaRPr>
                    </a:p>
                  </a:txBody>
                  <a:tcPr>
                    <a:solidFill>
                      <a:srgbClr val="86BBF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배달의민족 도현" panose="020B0600000101010101" pitchFamily="50" charset="-127"/>
                        <a:ea typeface="배달의민족 도현" panose="020B0600000101010101" pitchFamily="50" charset="-127"/>
                      </a:endParaRPr>
                    </a:p>
                  </a:txBody>
                  <a:tcPr>
                    <a:solidFill>
                      <a:srgbClr val="86B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904792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F446A0CB-B826-3D8E-77FE-BF09995585E1}"/>
              </a:ext>
            </a:extLst>
          </p:cNvPr>
          <p:cNvSpPr/>
          <p:nvPr/>
        </p:nvSpPr>
        <p:spPr>
          <a:xfrm>
            <a:off x="18516600" y="5271660"/>
            <a:ext cx="1447800" cy="609600"/>
          </a:xfrm>
          <a:prstGeom prst="rect">
            <a:avLst/>
          </a:prstGeom>
          <a:solidFill>
            <a:srgbClr val="6297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52CD5E4-752C-FC35-B4BC-40A7D5570F64}"/>
              </a:ext>
            </a:extLst>
          </p:cNvPr>
          <p:cNvSpPr/>
          <p:nvPr/>
        </p:nvSpPr>
        <p:spPr>
          <a:xfrm>
            <a:off x="18516600" y="6147960"/>
            <a:ext cx="1447800" cy="609600"/>
          </a:xfrm>
          <a:prstGeom prst="rect">
            <a:avLst/>
          </a:prstGeom>
          <a:solidFill>
            <a:srgbClr val="2D31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EDBDFC8-F4AD-659B-27E5-2DBB6DBB8F56}"/>
              </a:ext>
            </a:extLst>
          </p:cNvPr>
          <p:cNvSpPr/>
          <p:nvPr/>
        </p:nvSpPr>
        <p:spPr>
          <a:xfrm>
            <a:off x="18516600" y="7024260"/>
            <a:ext cx="1447800" cy="609600"/>
          </a:xfrm>
          <a:prstGeom prst="rect">
            <a:avLst/>
          </a:prstGeom>
          <a:solidFill>
            <a:srgbClr val="75A5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1E85EB0-CFFB-364C-515C-E2217484A590}"/>
              </a:ext>
            </a:extLst>
          </p:cNvPr>
          <p:cNvSpPr/>
          <p:nvPr/>
        </p:nvSpPr>
        <p:spPr>
          <a:xfrm>
            <a:off x="18516600" y="7900560"/>
            <a:ext cx="1447800" cy="609600"/>
          </a:xfrm>
          <a:prstGeom prst="rect">
            <a:avLst/>
          </a:prstGeom>
          <a:solidFill>
            <a:srgbClr val="3EB2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C8B0482E-AEB3-8074-1638-742F0523433E}"/>
              </a:ext>
            </a:extLst>
          </p:cNvPr>
          <p:cNvGrpSpPr/>
          <p:nvPr/>
        </p:nvGrpSpPr>
        <p:grpSpPr>
          <a:xfrm>
            <a:off x="1752600" y="1842660"/>
            <a:ext cx="16066770" cy="2743200"/>
            <a:chOff x="1752600" y="342900"/>
            <a:chExt cx="16066770" cy="2743200"/>
          </a:xfrm>
        </p:grpSpPr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E2A4185E-65DA-6E4F-8404-CF04EE832592}"/>
                </a:ext>
              </a:extLst>
            </p:cNvPr>
            <p:cNvCxnSpPr>
              <a:cxnSpLocks/>
            </p:cNvCxnSpPr>
            <p:nvPr/>
          </p:nvCxnSpPr>
          <p:spPr>
            <a:xfrm>
              <a:off x="2971800" y="342900"/>
              <a:ext cx="0" cy="2743200"/>
            </a:xfrm>
            <a:prstGeom prst="line">
              <a:avLst/>
            </a:prstGeom>
            <a:ln w="57150"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8BBDE2F2-70C1-D1B5-37B8-58794C4024ED}"/>
                </a:ext>
              </a:extLst>
            </p:cNvPr>
            <p:cNvCxnSpPr>
              <a:cxnSpLocks/>
            </p:cNvCxnSpPr>
            <p:nvPr/>
          </p:nvCxnSpPr>
          <p:spPr>
            <a:xfrm>
              <a:off x="2971800" y="3086100"/>
              <a:ext cx="14554200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2E1F784-9BD9-376D-D142-F5C0E5DB4E2E}"/>
                </a:ext>
              </a:extLst>
            </p:cNvPr>
            <p:cNvSpPr txBox="1"/>
            <p:nvPr/>
          </p:nvSpPr>
          <p:spPr>
            <a:xfrm>
              <a:off x="1752600" y="346710"/>
              <a:ext cx="1266845" cy="4014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지식수준</a:t>
              </a:r>
            </a:p>
          </p:txBody>
        </p:sp>
        <p:sp>
          <p:nvSpPr>
            <p:cNvPr id="14" name="자유형: 도형 13">
              <a:extLst>
                <a:ext uri="{FF2B5EF4-FFF2-40B4-BE49-F238E27FC236}">
                  <a16:creationId xmlns:a16="http://schemas.microsoft.com/office/drawing/2014/main" id="{3D5E9B34-30E2-FC74-A21A-6B312EDB1266}"/>
                </a:ext>
              </a:extLst>
            </p:cNvPr>
            <p:cNvSpPr/>
            <p:nvPr/>
          </p:nvSpPr>
          <p:spPr>
            <a:xfrm>
              <a:off x="3028950" y="633011"/>
              <a:ext cx="14790420" cy="2407369"/>
            </a:xfrm>
            <a:custGeom>
              <a:avLst/>
              <a:gdLst>
                <a:gd name="connsiteX0" fmla="*/ 0 w 14790420"/>
                <a:gd name="connsiteY0" fmla="*/ 2407369 h 2407369"/>
                <a:gd name="connsiteX1" fmla="*/ 1600200 w 14790420"/>
                <a:gd name="connsiteY1" fmla="*/ 681439 h 2407369"/>
                <a:gd name="connsiteX2" fmla="*/ 2994660 w 14790420"/>
                <a:gd name="connsiteY2" fmla="*/ 967189 h 2407369"/>
                <a:gd name="connsiteX3" fmla="*/ 4914900 w 14790420"/>
                <a:gd name="connsiteY3" fmla="*/ 487129 h 2407369"/>
                <a:gd name="connsiteX4" fmla="*/ 8846820 w 14790420"/>
                <a:gd name="connsiteY4" fmla="*/ 647149 h 2407369"/>
                <a:gd name="connsiteX5" fmla="*/ 11269980 w 14790420"/>
                <a:gd name="connsiteY5" fmla="*/ 7069 h 2407369"/>
                <a:gd name="connsiteX6" fmla="*/ 14230350 w 14790420"/>
                <a:gd name="connsiteY6" fmla="*/ 304249 h 2407369"/>
                <a:gd name="connsiteX7" fmla="*/ 14790420 w 14790420"/>
                <a:gd name="connsiteY7" fmla="*/ 292819 h 2407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790420" h="2407369">
                  <a:moveTo>
                    <a:pt x="0" y="2407369"/>
                  </a:moveTo>
                  <a:cubicBezTo>
                    <a:pt x="550545" y="1664419"/>
                    <a:pt x="1101090" y="921469"/>
                    <a:pt x="1600200" y="681439"/>
                  </a:cubicBezTo>
                  <a:cubicBezTo>
                    <a:pt x="2099310" y="441409"/>
                    <a:pt x="2442210" y="999574"/>
                    <a:pt x="2994660" y="967189"/>
                  </a:cubicBezTo>
                  <a:cubicBezTo>
                    <a:pt x="3547110" y="934804"/>
                    <a:pt x="3939540" y="540469"/>
                    <a:pt x="4914900" y="487129"/>
                  </a:cubicBezTo>
                  <a:cubicBezTo>
                    <a:pt x="5890260" y="433789"/>
                    <a:pt x="7787640" y="727159"/>
                    <a:pt x="8846820" y="647149"/>
                  </a:cubicBezTo>
                  <a:cubicBezTo>
                    <a:pt x="9906000" y="567139"/>
                    <a:pt x="10372725" y="64219"/>
                    <a:pt x="11269980" y="7069"/>
                  </a:cubicBezTo>
                  <a:cubicBezTo>
                    <a:pt x="12167235" y="-50081"/>
                    <a:pt x="13643610" y="256624"/>
                    <a:pt x="14230350" y="304249"/>
                  </a:cubicBezTo>
                  <a:cubicBezTo>
                    <a:pt x="14817090" y="351874"/>
                    <a:pt x="14742795" y="327109"/>
                    <a:pt x="14790420" y="292819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DA9CB837-6A3B-B435-75E1-322A6EE58D6F}"/>
              </a:ext>
            </a:extLst>
          </p:cNvPr>
          <p:cNvSpPr txBox="1"/>
          <p:nvPr/>
        </p:nvSpPr>
        <p:spPr>
          <a:xfrm>
            <a:off x="152400" y="1075124"/>
            <a:ext cx="61722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쿠쿠팡팡 상담사 여정 지도</a:t>
            </a:r>
          </a:p>
        </p:txBody>
      </p:sp>
      <p:graphicFrame>
        <p:nvGraphicFramePr>
          <p:cNvPr id="17" name="표 11">
            <a:extLst>
              <a:ext uri="{FF2B5EF4-FFF2-40B4-BE49-F238E27FC236}">
                <a16:creationId xmlns:a16="http://schemas.microsoft.com/office/drawing/2014/main" id="{F6923BDB-9705-43FB-EC3F-2BAD25B1A5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654640"/>
              </p:ext>
            </p:extLst>
          </p:nvPr>
        </p:nvGraphicFramePr>
        <p:xfrm>
          <a:off x="457200" y="419100"/>
          <a:ext cx="17373600" cy="52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>
                  <a:extLst>
                    <a:ext uri="{9D8B030D-6E8A-4147-A177-3AD203B41FA5}">
                      <a16:colId xmlns:a16="http://schemas.microsoft.com/office/drawing/2014/main" val="1911139076"/>
                    </a:ext>
                  </a:extLst>
                </a:gridCol>
              </a:tblGrid>
              <a:tr h="5232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01. </a:t>
                      </a:r>
                      <a:r>
                        <a:rPr lang="ko-KR" altLang="en-US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쿠쿠팡팡 강사의 역할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856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89718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229377-F789-3C5F-F6B4-E64AF64E6EA6}"/>
              </a:ext>
            </a:extLst>
          </p:cNvPr>
          <p:cNvSpPr txBox="1"/>
          <p:nvPr/>
        </p:nvSpPr>
        <p:spPr>
          <a:xfrm>
            <a:off x="-152400" y="-190500"/>
            <a:ext cx="8610600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300" b="1">
                <a:solidFill>
                  <a:srgbClr val="75A5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01-3</a:t>
            </a:r>
            <a:endParaRPr lang="ko-KR" altLang="en-US" sz="11300" b="1">
              <a:solidFill>
                <a:srgbClr val="75A5E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BEE0AF-52F5-6589-567F-3965E69A80B4}"/>
              </a:ext>
            </a:extLst>
          </p:cNvPr>
          <p:cNvSpPr txBox="1"/>
          <p:nvPr/>
        </p:nvSpPr>
        <p:spPr>
          <a:xfrm>
            <a:off x="6248400" y="4283958"/>
            <a:ext cx="61722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쿠쿠팡팡 강사와 교육생의 관계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11766DF-6B76-AA3A-3155-E6D8EAA4C0E7}"/>
              </a:ext>
            </a:extLst>
          </p:cNvPr>
          <p:cNvCxnSpPr/>
          <p:nvPr/>
        </p:nvCxnSpPr>
        <p:spPr>
          <a:xfrm>
            <a:off x="6248400" y="5143500"/>
            <a:ext cx="58674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96117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11">
            <a:extLst>
              <a:ext uri="{FF2B5EF4-FFF2-40B4-BE49-F238E27FC236}">
                <a16:creationId xmlns:a16="http://schemas.microsoft.com/office/drawing/2014/main" id="{3F91CD69-C662-CEB9-5648-E38C6A3393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120437"/>
              </p:ext>
            </p:extLst>
          </p:nvPr>
        </p:nvGraphicFramePr>
        <p:xfrm>
          <a:off x="457200" y="419100"/>
          <a:ext cx="17373600" cy="52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>
                  <a:extLst>
                    <a:ext uri="{9D8B030D-6E8A-4147-A177-3AD203B41FA5}">
                      <a16:colId xmlns:a16="http://schemas.microsoft.com/office/drawing/2014/main" val="1911139076"/>
                    </a:ext>
                  </a:extLst>
                </a:gridCol>
              </a:tblGrid>
              <a:tr h="5232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01. </a:t>
                      </a:r>
                      <a:r>
                        <a:rPr lang="ko-KR" altLang="en-US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쿠쿠팡팡 강사의 역할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856080"/>
                  </a:ext>
                </a:extLst>
              </a:tr>
            </a:tbl>
          </a:graphicData>
        </a:graphic>
      </p:graphicFrame>
      <p:pic>
        <p:nvPicPr>
          <p:cNvPr id="1028" name="Picture 4" descr="사자의 무료 사진">
            <a:extLst>
              <a:ext uri="{FF2B5EF4-FFF2-40B4-BE49-F238E27FC236}">
                <a16:creationId xmlns:a16="http://schemas.microsoft.com/office/drawing/2014/main" id="{F84A5103-B7F0-C5C8-52E9-21A8E1508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1600" y="2146935"/>
            <a:ext cx="9144000" cy="5819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사자 위협하려던 인간..'충격적 반전'">
            <a:extLst>
              <a:ext uri="{FF2B5EF4-FFF2-40B4-BE49-F238E27FC236}">
                <a16:creationId xmlns:a16="http://schemas.microsoft.com/office/drawing/2014/main" id="{B74F57C4-277F-137B-B193-92813CD77C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158365"/>
            <a:ext cx="7764780" cy="5823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39098C49-D9EC-0832-95A9-545829D122D4}"/>
              </a:ext>
            </a:extLst>
          </p:cNvPr>
          <p:cNvSpPr/>
          <p:nvPr/>
        </p:nvSpPr>
        <p:spPr>
          <a:xfrm>
            <a:off x="8534400" y="2131695"/>
            <a:ext cx="228600" cy="5835015"/>
          </a:xfrm>
          <a:prstGeom prst="rect">
            <a:avLst/>
          </a:prstGeom>
          <a:solidFill>
            <a:srgbClr val="2D31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93089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61A427-6BC2-563B-FF10-634E57DBE195}"/>
              </a:ext>
            </a:extLst>
          </p:cNvPr>
          <p:cNvSpPr txBox="1"/>
          <p:nvPr/>
        </p:nvSpPr>
        <p:spPr>
          <a:xfrm>
            <a:off x="2019300" y="3695700"/>
            <a:ext cx="14249400" cy="4064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의사소통에서 상대방과 형성되는 친밀감 또는 신뢰관계</a:t>
            </a:r>
            <a:endParaRPr lang="en-US" altLang="ko-KR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두 사람의 인간 사이에서 마음이 통하고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따뜻한 공감이 있으며 감정교류가 잘 되는 것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얘기가 통하는 정도</a:t>
            </a:r>
            <a:endParaRPr lang="en-US" altLang="ko-KR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‘마음이 서로 통한다’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‘</a:t>
            </a: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무슨 일이라도 털어놓고 말할 수 있다’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b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</a:b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‘</a:t>
            </a: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말한 것이 충분히 이해된다’고 느껴지는 관계를 말한다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 </a:t>
            </a:r>
            <a:endParaRPr lang="ko-KR" altLang="en-US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graphicFrame>
        <p:nvGraphicFramePr>
          <p:cNvPr id="3" name="표 11">
            <a:extLst>
              <a:ext uri="{FF2B5EF4-FFF2-40B4-BE49-F238E27FC236}">
                <a16:creationId xmlns:a16="http://schemas.microsoft.com/office/drawing/2014/main" id="{3236A7E2-3A31-9075-9166-4E754EB4D7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7953068"/>
              </p:ext>
            </p:extLst>
          </p:nvPr>
        </p:nvGraphicFramePr>
        <p:xfrm>
          <a:off x="457200" y="419100"/>
          <a:ext cx="17373600" cy="52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>
                  <a:extLst>
                    <a:ext uri="{9D8B030D-6E8A-4147-A177-3AD203B41FA5}">
                      <a16:colId xmlns:a16="http://schemas.microsoft.com/office/drawing/2014/main" val="1911139076"/>
                    </a:ext>
                  </a:extLst>
                </a:gridCol>
              </a:tblGrid>
              <a:tr h="5232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01. </a:t>
                      </a:r>
                      <a:r>
                        <a:rPr lang="ko-KR" altLang="en-US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쿠쿠팡팡 강사의 역할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85608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952A290-052E-AC83-088F-13DECA2B8C5C}"/>
              </a:ext>
            </a:extLst>
          </p:cNvPr>
          <p:cNvSpPr txBox="1"/>
          <p:nvPr/>
        </p:nvSpPr>
        <p:spPr>
          <a:xfrm>
            <a:off x="762000" y="2526726"/>
            <a:ext cx="731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Rapport</a:t>
            </a:r>
            <a:endParaRPr lang="ko-KR" altLang="en-US" sz="48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07074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61A427-6BC2-563B-FF10-634E57DBE195}"/>
              </a:ext>
            </a:extLst>
          </p:cNvPr>
          <p:cNvSpPr txBox="1"/>
          <p:nvPr/>
        </p:nvSpPr>
        <p:spPr>
          <a:xfrm>
            <a:off x="2019300" y="3695700"/>
            <a:ext cx="14249400" cy="5209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이름 불러주기</a:t>
            </a:r>
            <a:endParaRPr lang="en-US" altLang="ko-KR" sz="28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좋아하는 것 물어보기</a:t>
            </a:r>
            <a:endParaRPr lang="en-US" altLang="ko-KR" sz="28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작은 것도 칭찬하기</a:t>
            </a:r>
            <a:endParaRPr lang="en-US" altLang="ko-KR" sz="28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지적하지 않기</a:t>
            </a:r>
            <a:endParaRPr lang="en-US" altLang="ko-KR" sz="28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긍정적인 기대가 섞인 말을 많이 해주기</a:t>
            </a:r>
            <a:endParaRPr lang="en-US" altLang="ko-KR" sz="28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편안한 분위기를 만들어주기</a:t>
            </a:r>
            <a:endParaRPr lang="en-US" altLang="ko-KR" sz="28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상대방이 사용하는 표현을 따라하기</a:t>
            </a:r>
            <a:endParaRPr lang="en-US" altLang="ko-KR" sz="28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공통점을 공유하고 공감대 형성하기</a:t>
            </a:r>
          </a:p>
        </p:txBody>
      </p:sp>
      <p:graphicFrame>
        <p:nvGraphicFramePr>
          <p:cNvPr id="3" name="표 11">
            <a:extLst>
              <a:ext uri="{FF2B5EF4-FFF2-40B4-BE49-F238E27FC236}">
                <a16:creationId xmlns:a16="http://schemas.microsoft.com/office/drawing/2014/main" id="{3236A7E2-3A31-9075-9166-4E754EB4D7FF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419100"/>
          <a:ext cx="17373600" cy="52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>
                  <a:extLst>
                    <a:ext uri="{9D8B030D-6E8A-4147-A177-3AD203B41FA5}">
                      <a16:colId xmlns:a16="http://schemas.microsoft.com/office/drawing/2014/main" val="1911139076"/>
                    </a:ext>
                  </a:extLst>
                </a:gridCol>
              </a:tblGrid>
              <a:tr h="5232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01. </a:t>
                      </a:r>
                      <a:r>
                        <a:rPr lang="ko-KR" altLang="en-US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쿠쿠팡팡 강사의 역할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85608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952A290-052E-AC83-088F-13DECA2B8C5C}"/>
              </a:ext>
            </a:extLst>
          </p:cNvPr>
          <p:cNvSpPr txBox="1"/>
          <p:nvPr/>
        </p:nvSpPr>
        <p:spPr>
          <a:xfrm>
            <a:off x="457200" y="1107510"/>
            <a:ext cx="830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Rapport</a:t>
            </a:r>
            <a:r>
              <a:rPr lang="ko-KR" altLang="en-US" sz="36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형성하기</a:t>
            </a:r>
          </a:p>
        </p:txBody>
      </p:sp>
    </p:spTree>
    <p:extLst>
      <p:ext uri="{BB962C8B-B14F-4D97-AF65-F5344CB8AC3E}">
        <p14:creationId xmlns:p14="http://schemas.microsoft.com/office/powerpoint/2010/main" val="30856147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229377-F789-3C5F-F6B4-E64AF64E6EA6}"/>
              </a:ext>
            </a:extLst>
          </p:cNvPr>
          <p:cNvSpPr txBox="1"/>
          <p:nvPr/>
        </p:nvSpPr>
        <p:spPr>
          <a:xfrm>
            <a:off x="-609600" y="-495300"/>
            <a:ext cx="79248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0" b="1">
                <a:solidFill>
                  <a:srgbClr val="75A5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02</a:t>
            </a:r>
            <a:endParaRPr lang="ko-KR" altLang="en-US" sz="28000" b="1">
              <a:solidFill>
                <a:srgbClr val="75A5E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BEE0AF-52F5-6589-567F-3965E69A80B4}"/>
              </a:ext>
            </a:extLst>
          </p:cNvPr>
          <p:cNvSpPr txBox="1"/>
          <p:nvPr/>
        </p:nvSpPr>
        <p:spPr>
          <a:xfrm>
            <a:off x="6248400" y="4283958"/>
            <a:ext cx="61722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쿠쿠팡팡 교육 환경 정의하기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11766DF-6B76-AA3A-3155-E6D8EAA4C0E7}"/>
              </a:ext>
            </a:extLst>
          </p:cNvPr>
          <p:cNvCxnSpPr/>
          <p:nvPr/>
        </p:nvCxnSpPr>
        <p:spPr>
          <a:xfrm>
            <a:off x="6248400" y="5143500"/>
            <a:ext cx="58674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24483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229377-F789-3C5F-F6B4-E64AF64E6EA6}"/>
              </a:ext>
            </a:extLst>
          </p:cNvPr>
          <p:cNvSpPr txBox="1"/>
          <p:nvPr/>
        </p:nvSpPr>
        <p:spPr>
          <a:xfrm>
            <a:off x="-152400" y="-190500"/>
            <a:ext cx="8610600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300" b="1">
                <a:solidFill>
                  <a:srgbClr val="75A5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02-1</a:t>
            </a:r>
            <a:endParaRPr lang="ko-KR" altLang="en-US" sz="11300" b="1">
              <a:solidFill>
                <a:srgbClr val="75A5E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BEE0AF-52F5-6589-567F-3965E69A80B4}"/>
              </a:ext>
            </a:extLst>
          </p:cNvPr>
          <p:cNvSpPr txBox="1"/>
          <p:nvPr/>
        </p:nvSpPr>
        <p:spPr>
          <a:xfrm>
            <a:off x="6248400" y="4283958"/>
            <a:ext cx="61722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좋은 강사의 정의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11766DF-6B76-AA3A-3155-E6D8EAA4C0E7}"/>
              </a:ext>
            </a:extLst>
          </p:cNvPr>
          <p:cNvCxnSpPr/>
          <p:nvPr/>
        </p:nvCxnSpPr>
        <p:spPr>
          <a:xfrm>
            <a:off x="6248400" y="5143500"/>
            <a:ext cx="58674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380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61A427-6BC2-563B-FF10-634E57DBE195}"/>
              </a:ext>
            </a:extLst>
          </p:cNvPr>
          <p:cNvSpPr txBox="1"/>
          <p:nvPr/>
        </p:nvSpPr>
        <p:spPr>
          <a:xfrm>
            <a:off x="2057400" y="4686300"/>
            <a:ext cx="14249400" cy="832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쿠쿠팡팡의 좋은 강사는 어떤 사람입니까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?</a:t>
            </a: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</a:t>
            </a:r>
          </a:p>
        </p:txBody>
      </p:sp>
      <p:graphicFrame>
        <p:nvGraphicFramePr>
          <p:cNvPr id="3" name="표 11">
            <a:extLst>
              <a:ext uri="{FF2B5EF4-FFF2-40B4-BE49-F238E27FC236}">
                <a16:creationId xmlns:a16="http://schemas.microsoft.com/office/drawing/2014/main" id="{3236A7E2-3A31-9075-9166-4E754EB4D7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2840811"/>
              </p:ext>
            </p:extLst>
          </p:nvPr>
        </p:nvGraphicFramePr>
        <p:xfrm>
          <a:off x="457200" y="419100"/>
          <a:ext cx="17373600" cy="52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>
                  <a:extLst>
                    <a:ext uri="{9D8B030D-6E8A-4147-A177-3AD203B41FA5}">
                      <a16:colId xmlns:a16="http://schemas.microsoft.com/office/drawing/2014/main" val="1911139076"/>
                    </a:ext>
                  </a:extLst>
                </a:gridCol>
              </a:tblGrid>
              <a:tr h="5232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02. </a:t>
                      </a:r>
                      <a:r>
                        <a:rPr lang="ko-KR" altLang="en-US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쿠쿠팡팡 교육 환경 정의하기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856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04867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61A427-6BC2-563B-FF10-634E57DBE195}"/>
              </a:ext>
            </a:extLst>
          </p:cNvPr>
          <p:cNvSpPr txBox="1"/>
          <p:nvPr/>
        </p:nvSpPr>
        <p:spPr>
          <a:xfrm>
            <a:off x="2019300" y="2303299"/>
            <a:ext cx="14249400" cy="5680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좋은 강사의 자질</a:t>
            </a:r>
            <a:endParaRPr lang="en-US" altLang="ko-KR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정서적 공유</a:t>
            </a:r>
            <a:endParaRPr lang="en-US" altLang="ko-KR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타인에게 끼치는 영향에 대한 인식</a:t>
            </a:r>
            <a:endParaRPr lang="en-US" altLang="ko-KR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상호 작용에서 보여지는 용기</a:t>
            </a:r>
            <a:endParaRPr lang="en-US" altLang="ko-KR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자신을 정직하게 바라보려는 의지</a:t>
            </a:r>
            <a:endParaRPr lang="en-US" altLang="ko-KR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타인의 성장에 대한 관심</a:t>
            </a:r>
            <a:endParaRPr lang="en-US" altLang="ko-KR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교육에 대한 신뢰와 열정</a:t>
            </a:r>
          </a:p>
        </p:txBody>
      </p:sp>
      <p:graphicFrame>
        <p:nvGraphicFramePr>
          <p:cNvPr id="3" name="표 11">
            <a:extLst>
              <a:ext uri="{FF2B5EF4-FFF2-40B4-BE49-F238E27FC236}">
                <a16:creationId xmlns:a16="http://schemas.microsoft.com/office/drawing/2014/main" id="{3236A7E2-3A31-9075-9166-4E754EB4D7FF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419100"/>
          <a:ext cx="17373600" cy="52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>
                  <a:extLst>
                    <a:ext uri="{9D8B030D-6E8A-4147-A177-3AD203B41FA5}">
                      <a16:colId xmlns:a16="http://schemas.microsoft.com/office/drawing/2014/main" val="1911139076"/>
                    </a:ext>
                  </a:extLst>
                </a:gridCol>
              </a:tblGrid>
              <a:tr h="5232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02. </a:t>
                      </a:r>
                      <a:r>
                        <a:rPr lang="ko-KR" altLang="en-US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쿠쿠팡팡 교육 환경 정의하기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856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88670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229377-F789-3C5F-F6B4-E64AF64E6EA6}"/>
              </a:ext>
            </a:extLst>
          </p:cNvPr>
          <p:cNvSpPr txBox="1"/>
          <p:nvPr/>
        </p:nvSpPr>
        <p:spPr>
          <a:xfrm>
            <a:off x="-152400" y="-190500"/>
            <a:ext cx="8610600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300" b="1">
                <a:solidFill>
                  <a:srgbClr val="75A5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02-2</a:t>
            </a:r>
            <a:endParaRPr lang="ko-KR" altLang="en-US" sz="11300" b="1">
              <a:solidFill>
                <a:srgbClr val="75A5E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BEE0AF-52F5-6589-567F-3965E69A80B4}"/>
              </a:ext>
            </a:extLst>
          </p:cNvPr>
          <p:cNvSpPr txBox="1"/>
          <p:nvPr/>
        </p:nvSpPr>
        <p:spPr>
          <a:xfrm>
            <a:off x="6248400" y="4283958"/>
            <a:ext cx="61722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강사가 지양해야할 행동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11766DF-6B76-AA3A-3155-E6D8EAA4C0E7}"/>
              </a:ext>
            </a:extLst>
          </p:cNvPr>
          <p:cNvCxnSpPr/>
          <p:nvPr/>
        </p:nvCxnSpPr>
        <p:spPr>
          <a:xfrm>
            <a:off x="6248400" y="5143500"/>
            <a:ext cx="58674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51661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61A427-6BC2-563B-FF10-634E57DBE195}"/>
              </a:ext>
            </a:extLst>
          </p:cNvPr>
          <p:cNvSpPr txBox="1"/>
          <p:nvPr/>
        </p:nvSpPr>
        <p:spPr>
          <a:xfrm>
            <a:off x="2019300" y="2303299"/>
            <a:ext cx="14249400" cy="6488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강사가 지양해야할 질문들</a:t>
            </a:r>
            <a:endParaRPr lang="en-US" altLang="ko-KR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교육생들이 내게 어떤 기대를 가지고 있을까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?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나는 교육을 잘 시작할 수 있을까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? </a:t>
            </a: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어떻게 해야 할까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?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교육 시간이 많이 남거나 부족하면 어떻게 하지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?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내가 처음이라는 사실을 교육생들이 알게되면 어떡하지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?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내가 미리 모든 계획을 다 가지고 있어야 하나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?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질문을 했는데 아무도 대답하지 않으면 어쩌지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?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너무 지루하서 조는 교육생들이 많아지면 어떡하지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?</a:t>
            </a:r>
            <a:endParaRPr lang="ko-KR" altLang="en-US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graphicFrame>
        <p:nvGraphicFramePr>
          <p:cNvPr id="3" name="표 11">
            <a:extLst>
              <a:ext uri="{FF2B5EF4-FFF2-40B4-BE49-F238E27FC236}">
                <a16:creationId xmlns:a16="http://schemas.microsoft.com/office/drawing/2014/main" id="{3236A7E2-3A31-9075-9166-4E754EB4D7FF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419100"/>
          <a:ext cx="17373600" cy="52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>
                  <a:extLst>
                    <a:ext uri="{9D8B030D-6E8A-4147-A177-3AD203B41FA5}">
                      <a16:colId xmlns:a16="http://schemas.microsoft.com/office/drawing/2014/main" val="1911139076"/>
                    </a:ext>
                  </a:extLst>
                </a:gridCol>
              </a:tblGrid>
              <a:tr h="5232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02. </a:t>
                      </a:r>
                      <a:r>
                        <a:rPr lang="ko-KR" altLang="en-US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쿠쿠팡팡 교육 환경 정의하기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856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29242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61A427-6BC2-563B-FF10-634E57DBE195}"/>
              </a:ext>
            </a:extLst>
          </p:cNvPr>
          <p:cNvSpPr txBox="1"/>
          <p:nvPr/>
        </p:nvSpPr>
        <p:spPr>
          <a:xfrm>
            <a:off x="2057400" y="4686300"/>
            <a:ext cx="14249400" cy="832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적절한 자기 개방의 정도</a:t>
            </a:r>
          </a:p>
        </p:txBody>
      </p:sp>
      <p:graphicFrame>
        <p:nvGraphicFramePr>
          <p:cNvPr id="3" name="표 11">
            <a:extLst>
              <a:ext uri="{FF2B5EF4-FFF2-40B4-BE49-F238E27FC236}">
                <a16:creationId xmlns:a16="http://schemas.microsoft.com/office/drawing/2014/main" id="{3236A7E2-3A31-9075-9166-4E754EB4D7FF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419100"/>
          <a:ext cx="17373600" cy="52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>
                  <a:extLst>
                    <a:ext uri="{9D8B030D-6E8A-4147-A177-3AD203B41FA5}">
                      <a16:colId xmlns:a16="http://schemas.microsoft.com/office/drawing/2014/main" val="1911139076"/>
                    </a:ext>
                  </a:extLst>
                </a:gridCol>
              </a:tblGrid>
              <a:tr h="5232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02. </a:t>
                      </a:r>
                      <a:r>
                        <a:rPr lang="ko-KR" altLang="en-US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쿠쿠팡팡 교육 환경 정의하기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856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83409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61A427-6BC2-563B-FF10-634E57DBE195}"/>
              </a:ext>
            </a:extLst>
          </p:cNvPr>
          <p:cNvSpPr txBox="1"/>
          <p:nvPr/>
        </p:nvSpPr>
        <p:spPr>
          <a:xfrm>
            <a:off x="2019300" y="2303299"/>
            <a:ext cx="14249400" cy="3256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너무 적은 자기 개방</a:t>
            </a:r>
            <a:endParaRPr lang="en-US" altLang="ko-KR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너무 적은 자기 개방이 문제가 되는 이유는 무엇입니까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?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강사가 자기 개방을 적게 하려고 하는 이유는 무엇입니까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?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자기 개방의 폭을 넓히려면 어떻게 해야 합니까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?</a:t>
            </a:r>
            <a:endParaRPr lang="ko-KR" altLang="en-US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graphicFrame>
        <p:nvGraphicFramePr>
          <p:cNvPr id="3" name="표 11">
            <a:extLst>
              <a:ext uri="{FF2B5EF4-FFF2-40B4-BE49-F238E27FC236}">
                <a16:creationId xmlns:a16="http://schemas.microsoft.com/office/drawing/2014/main" id="{3236A7E2-3A31-9075-9166-4E754EB4D7FF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419100"/>
          <a:ext cx="17373600" cy="52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>
                  <a:extLst>
                    <a:ext uri="{9D8B030D-6E8A-4147-A177-3AD203B41FA5}">
                      <a16:colId xmlns:a16="http://schemas.microsoft.com/office/drawing/2014/main" val="1911139076"/>
                    </a:ext>
                  </a:extLst>
                </a:gridCol>
              </a:tblGrid>
              <a:tr h="5232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02. </a:t>
                      </a:r>
                      <a:r>
                        <a:rPr lang="ko-KR" altLang="en-US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쿠쿠팡팡 교육 환경 정의하기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856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33646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61A427-6BC2-563B-FF10-634E57DBE195}"/>
              </a:ext>
            </a:extLst>
          </p:cNvPr>
          <p:cNvSpPr txBox="1"/>
          <p:nvPr/>
        </p:nvSpPr>
        <p:spPr>
          <a:xfrm>
            <a:off x="2019300" y="2303299"/>
            <a:ext cx="14249400" cy="3256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너무 많은 자기 개방</a:t>
            </a:r>
            <a:endParaRPr lang="en-US" altLang="ko-KR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너무 많은 자기 개방이 문제가 되는 이유는 무엇입니까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?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강사가 자기 개방을 많이 하려고 하는 이유는 무엇입니까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?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자기 개방의 폭을 줄이려면 어떻게 해야 합니까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?</a:t>
            </a:r>
            <a:endParaRPr lang="ko-KR" altLang="en-US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graphicFrame>
        <p:nvGraphicFramePr>
          <p:cNvPr id="3" name="표 11">
            <a:extLst>
              <a:ext uri="{FF2B5EF4-FFF2-40B4-BE49-F238E27FC236}">
                <a16:creationId xmlns:a16="http://schemas.microsoft.com/office/drawing/2014/main" id="{3236A7E2-3A31-9075-9166-4E754EB4D7FF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419100"/>
          <a:ext cx="17373600" cy="52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>
                  <a:extLst>
                    <a:ext uri="{9D8B030D-6E8A-4147-A177-3AD203B41FA5}">
                      <a16:colId xmlns:a16="http://schemas.microsoft.com/office/drawing/2014/main" val="1911139076"/>
                    </a:ext>
                  </a:extLst>
                </a:gridCol>
              </a:tblGrid>
              <a:tr h="5232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02. </a:t>
                      </a:r>
                      <a:r>
                        <a:rPr lang="ko-KR" altLang="en-US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쿠쿠팡팡 교육 환경 정의하기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856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40391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61A427-6BC2-563B-FF10-634E57DBE195}"/>
              </a:ext>
            </a:extLst>
          </p:cNvPr>
          <p:cNvSpPr txBox="1"/>
          <p:nvPr/>
        </p:nvSpPr>
        <p:spPr>
          <a:xfrm>
            <a:off x="2019300" y="2303299"/>
            <a:ext cx="14249400" cy="4872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적절하고 교육 효과를 높이는 자기 개방</a:t>
            </a:r>
            <a:endParaRPr lang="en-US" altLang="ko-KR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너무 자주 자신의 사례를 드는 것은 옳지 않다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시범 보이기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관계 강화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롤플레잉을 돕기 위해 사용할 수 있다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강사의 욕구로 인해 자기 개방을 해서는 안된다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자기 개방 이후 교육생들의 반응을 관찰하고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수정 개선한다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graphicFrame>
        <p:nvGraphicFramePr>
          <p:cNvPr id="3" name="표 11">
            <a:extLst>
              <a:ext uri="{FF2B5EF4-FFF2-40B4-BE49-F238E27FC236}">
                <a16:creationId xmlns:a16="http://schemas.microsoft.com/office/drawing/2014/main" id="{3236A7E2-3A31-9075-9166-4E754EB4D7FF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419100"/>
          <a:ext cx="17373600" cy="52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>
                  <a:extLst>
                    <a:ext uri="{9D8B030D-6E8A-4147-A177-3AD203B41FA5}">
                      <a16:colId xmlns:a16="http://schemas.microsoft.com/office/drawing/2014/main" val="1911139076"/>
                    </a:ext>
                  </a:extLst>
                </a:gridCol>
              </a:tblGrid>
              <a:tr h="5232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02. </a:t>
                      </a:r>
                      <a:r>
                        <a:rPr lang="ko-KR" altLang="en-US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쿠쿠팡팡 교육 환경 정의하기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856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14206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229377-F789-3C5F-F6B4-E64AF64E6EA6}"/>
              </a:ext>
            </a:extLst>
          </p:cNvPr>
          <p:cNvSpPr txBox="1"/>
          <p:nvPr/>
        </p:nvSpPr>
        <p:spPr>
          <a:xfrm>
            <a:off x="-152400" y="-190500"/>
            <a:ext cx="8610600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300" b="1">
                <a:solidFill>
                  <a:srgbClr val="75A5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02-3</a:t>
            </a:r>
            <a:endParaRPr lang="ko-KR" altLang="en-US" sz="11300" b="1">
              <a:solidFill>
                <a:srgbClr val="75A5E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BEE0AF-52F5-6589-567F-3965E69A80B4}"/>
              </a:ext>
            </a:extLst>
          </p:cNvPr>
          <p:cNvSpPr txBox="1"/>
          <p:nvPr/>
        </p:nvSpPr>
        <p:spPr>
          <a:xfrm>
            <a:off x="6248400" y="4283958"/>
            <a:ext cx="61722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교육생의 변화 촉진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11766DF-6B76-AA3A-3155-E6D8EAA4C0E7}"/>
              </a:ext>
            </a:extLst>
          </p:cNvPr>
          <p:cNvCxnSpPr/>
          <p:nvPr/>
        </p:nvCxnSpPr>
        <p:spPr>
          <a:xfrm>
            <a:off x="6248400" y="5143500"/>
            <a:ext cx="58674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6607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61A427-6BC2-563B-FF10-634E57DBE195}"/>
              </a:ext>
            </a:extLst>
          </p:cNvPr>
          <p:cNvSpPr txBox="1"/>
          <p:nvPr/>
        </p:nvSpPr>
        <p:spPr>
          <a:xfrm>
            <a:off x="2209800" y="2382377"/>
            <a:ext cx="14249400" cy="4872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변화 촉진 기술</a:t>
            </a:r>
            <a:endParaRPr lang="en-US" altLang="ko-KR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적극적 경청</a:t>
            </a:r>
            <a:endParaRPr lang="en-US" altLang="ko-KR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공감적 이해</a:t>
            </a:r>
            <a:endParaRPr lang="en-US" altLang="ko-KR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초점 맞추기</a:t>
            </a:r>
            <a:endParaRPr lang="en-US" altLang="ko-KR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모델링</a:t>
            </a:r>
            <a:endParaRPr lang="en-US" altLang="ko-KR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적극적 참여 유도</a:t>
            </a:r>
          </a:p>
        </p:txBody>
      </p:sp>
      <p:graphicFrame>
        <p:nvGraphicFramePr>
          <p:cNvPr id="3" name="표 11">
            <a:extLst>
              <a:ext uri="{FF2B5EF4-FFF2-40B4-BE49-F238E27FC236}">
                <a16:creationId xmlns:a16="http://schemas.microsoft.com/office/drawing/2014/main" id="{3236A7E2-3A31-9075-9166-4E754EB4D7FF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419100"/>
          <a:ext cx="17373600" cy="52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>
                  <a:extLst>
                    <a:ext uri="{9D8B030D-6E8A-4147-A177-3AD203B41FA5}">
                      <a16:colId xmlns:a16="http://schemas.microsoft.com/office/drawing/2014/main" val="1911139076"/>
                    </a:ext>
                  </a:extLst>
                </a:gridCol>
              </a:tblGrid>
              <a:tr h="5232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02. </a:t>
                      </a:r>
                      <a:r>
                        <a:rPr lang="ko-KR" altLang="en-US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쿠쿠팡팡 교육 환경 정의하기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856080"/>
                  </a:ext>
                </a:extLst>
              </a:tr>
            </a:tbl>
          </a:graphicData>
        </a:graphic>
      </p:graphicFrame>
      <p:pic>
        <p:nvPicPr>
          <p:cNvPr id="3074" name="Picture 2" descr="Sponsored image">
            <a:extLst>
              <a:ext uri="{FF2B5EF4-FFF2-40B4-BE49-F238E27FC236}">
                <a16:creationId xmlns:a16="http://schemas.microsoft.com/office/drawing/2014/main" id="{F3CA1BCB-9528-ABA7-38AC-A3E485863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9288" y="2382377"/>
            <a:ext cx="8291512" cy="5522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78483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61A427-6BC2-563B-FF10-634E57DBE195}"/>
              </a:ext>
            </a:extLst>
          </p:cNvPr>
          <p:cNvSpPr txBox="1"/>
          <p:nvPr/>
        </p:nvSpPr>
        <p:spPr>
          <a:xfrm>
            <a:off x="1527464" y="2628900"/>
            <a:ext cx="16268700" cy="4872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1.</a:t>
            </a: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적극적 경청</a:t>
            </a:r>
            <a:b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</a:br>
            <a:endParaRPr lang="ko-KR" altLang="en-US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교육생의 말과 행동에 민감하게 반응하여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강사가 이해한 사항을 재진술</a:t>
            </a:r>
            <a:endParaRPr lang="en-US" altLang="ko-KR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교육 중 수시로 교육생들의 행동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(</a:t>
            </a: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표정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자세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움직임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)</a:t>
            </a: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등을 관찰하고 피드백 제공</a:t>
            </a:r>
            <a:endParaRPr lang="en-US" altLang="ko-KR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교육생의 말과 행동을 파악하고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어떤 감정을 느끼는지 파악해보기</a:t>
            </a:r>
            <a:endParaRPr lang="en-US" altLang="ko-KR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성급하게 결론 내리기 보다는 교육생의 이야기를 끝까지 듣고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방향을 모색하기</a:t>
            </a:r>
          </a:p>
        </p:txBody>
      </p:sp>
      <p:graphicFrame>
        <p:nvGraphicFramePr>
          <p:cNvPr id="3" name="표 11">
            <a:extLst>
              <a:ext uri="{FF2B5EF4-FFF2-40B4-BE49-F238E27FC236}">
                <a16:creationId xmlns:a16="http://schemas.microsoft.com/office/drawing/2014/main" id="{3236A7E2-3A31-9075-9166-4E754EB4D7FF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419100"/>
          <a:ext cx="17373600" cy="52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>
                  <a:extLst>
                    <a:ext uri="{9D8B030D-6E8A-4147-A177-3AD203B41FA5}">
                      <a16:colId xmlns:a16="http://schemas.microsoft.com/office/drawing/2014/main" val="1911139076"/>
                    </a:ext>
                  </a:extLst>
                </a:gridCol>
              </a:tblGrid>
              <a:tr h="5232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02. </a:t>
                      </a:r>
                      <a:r>
                        <a:rPr lang="ko-KR" altLang="en-US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쿠쿠팡팡 교육 환경 정의하기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856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33740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61A427-6BC2-563B-FF10-634E57DBE195}"/>
              </a:ext>
            </a:extLst>
          </p:cNvPr>
          <p:cNvSpPr txBox="1"/>
          <p:nvPr/>
        </p:nvSpPr>
        <p:spPr>
          <a:xfrm>
            <a:off x="2019300" y="2303299"/>
            <a:ext cx="14249400" cy="4872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2.</a:t>
            </a: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공감적 이해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다른 사람의 감정을 가슴으로 느끼고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입장을 머리로 이해하는 것</a:t>
            </a:r>
            <a:endParaRPr lang="en-US" altLang="ko-KR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교육생 개개인에 대한 이해와 개방성 필요</a:t>
            </a:r>
            <a:endParaRPr lang="en-US" altLang="ko-KR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비언어적 의사 표현에서 나오는 메시지 이해하기</a:t>
            </a:r>
            <a:endParaRPr lang="en-US" altLang="ko-KR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교육생의 입장에서 주관적 감정을 공유하고 상황을 이해함과 동시에 강사로서의 개별성을 유지하는 것이 필요</a:t>
            </a:r>
          </a:p>
        </p:txBody>
      </p:sp>
      <p:graphicFrame>
        <p:nvGraphicFramePr>
          <p:cNvPr id="3" name="표 11">
            <a:extLst>
              <a:ext uri="{FF2B5EF4-FFF2-40B4-BE49-F238E27FC236}">
                <a16:creationId xmlns:a16="http://schemas.microsoft.com/office/drawing/2014/main" id="{3236A7E2-3A31-9075-9166-4E754EB4D7FF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419100"/>
          <a:ext cx="17373600" cy="52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>
                  <a:extLst>
                    <a:ext uri="{9D8B030D-6E8A-4147-A177-3AD203B41FA5}">
                      <a16:colId xmlns:a16="http://schemas.microsoft.com/office/drawing/2014/main" val="1911139076"/>
                    </a:ext>
                  </a:extLst>
                </a:gridCol>
              </a:tblGrid>
              <a:tr h="5232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02. </a:t>
                      </a:r>
                      <a:r>
                        <a:rPr lang="ko-KR" altLang="en-US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쿠쿠팡팡 교육 환경 정의하기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856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49618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61A427-6BC2-563B-FF10-634E57DBE195}"/>
              </a:ext>
            </a:extLst>
          </p:cNvPr>
          <p:cNvSpPr txBox="1"/>
          <p:nvPr/>
        </p:nvSpPr>
        <p:spPr>
          <a:xfrm>
            <a:off x="2019300" y="2303299"/>
            <a:ext cx="14249400" cy="7296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3.</a:t>
            </a: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초점 맞추기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교육 과정에서 논의되는 주제를 중심으로 이야기를 펼쳐 나가는 것</a:t>
            </a:r>
            <a:endParaRPr lang="en-US" altLang="ko-KR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강사의 자기 개방정도를 조정하기</a:t>
            </a:r>
            <a:endParaRPr lang="en-US" altLang="ko-KR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교육생들의 초점이 교육 주제와 일치하는지 주기적으로 체크</a:t>
            </a:r>
            <a:endParaRPr lang="en-US" altLang="ko-KR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초점 맞추기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</a:t>
            </a: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단계</a:t>
            </a:r>
            <a:endParaRPr lang="en-US" altLang="ko-KR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초점 설정</a:t>
            </a:r>
            <a:endParaRPr lang="en-US" altLang="ko-KR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초점 유지</a:t>
            </a:r>
            <a:endParaRPr lang="en-US" altLang="ko-KR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초점 이동</a:t>
            </a:r>
            <a:endParaRPr lang="en-US" altLang="ko-KR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초점 심화</a:t>
            </a:r>
          </a:p>
        </p:txBody>
      </p:sp>
      <p:graphicFrame>
        <p:nvGraphicFramePr>
          <p:cNvPr id="3" name="표 11">
            <a:extLst>
              <a:ext uri="{FF2B5EF4-FFF2-40B4-BE49-F238E27FC236}">
                <a16:creationId xmlns:a16="http://schemas.microsoft.com/office/drawing/2014/main" id="{3236A7E2-3A31-9075-9166-4E754EB4D7FF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419100"/>
          <a:ext cx="17373600" cy="52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>
                  <a:extLst>
                    <a:ext uri="{9D8B030D-6E8A-4147-A177-3AD203B41FA5}">
                      <a16:colId xmlns:a16="http://schemas.microsoft.com/office/drawing/2014/main" val="1911139076"/>
                    </a:ext>
                  </a:extLst>
                </a:gridCol>
              </a:tblGrid>
              <a:tr h="5232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02. </a:t>
                      </a:r>
                      <a:r>
                        <a:rPr lang="ko-KR" altLang="en-US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쿠쿠팡팡 교육 환경 정의하기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856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00322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61A427-6BC2-563B-FF10-634E57DBE195}"/>
              </a:ext>
            </a:extLst>
          </p:cNvPr>
          <p:cNvSpPr txBox="1"/>
          <p:nvPr/>
        </p:nvSpPr>
        <p:spPr>
          <a:xfrm>
            <a:off x="2019300" y="2303299"/>
            <a:ext cx="14249400" cy="4872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4.</a:t>
            </a: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모델링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강사가 보이는 모든 종류의 시범 기술</a:t>
            </a:r>
            <a:endParaRPr lang="en-US" altLang="ko-KR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교육생들이 고객 상담에 익숙해질 수 있도록 단계적 구조화</a:t>
            </a:r>
            <a:endParaRPr lang="en-US" altLang="ko-KR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롤 플레잉에서 대화 방식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경청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반응 등에서 모델 역할 담당</a:t>
            </a:r>
            <a:endParaRPr lang="en-US" altLang="ko-KR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부정적 감정 표현을 긍정적으로 바꾸어 설명하기</a:t>
            </a:r>
            <a:endParaRPr lang="en-US" altLang="ko-KR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graphicFrame>
        <p:nvGraphicFramePr>
          <p:cNvPr id="3" name="표 11">
            <a:extLst>
              <a:ext uri="{FF2B5EF4-FFF2-40B4-BE49-F238E27FC236}">
                <a16:creationId xmlns:a16="http://schemas.microsoft.com/office/drawing/2014/main" id="{3236A7E2-3A31-9075-9166-4E754EB4D7FF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419100"/>
          <a:ext cx="17373600" cy="52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>
                  <a:extLst>
                    <a:ext uri="{9D8B030D-6E8A-4147-A177-3AD203B41FA5}">
                      <a16:colId xmlns:a16="http://schemas.microsoft.com/office/drawing/2014/main" val="1911139076"/>
                    </a:ext>
                  </a:extLst>
                </a:gridCol>
              </a:tblGrid>
              <a:tr h="5232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02. </a:t>
                      </a:r>
                      <a:r>
                        <a:rPr lang="ko-KR" altLang="en-US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쿠쿠팡팡 교육 환경 정의하기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856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73001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61A427-6BC2-563B-FF10-634E57DBE195}"/>
              </a:ext>
            </a:extLst>
          </p:cNvPr>
          <p:cNvSpPr txBox="1"/>
          <p:nvPr/>
        </p:nvSpPr>
        <p:spPr>
          <a:xfrm>
            <a:off x="2019300" y="2303299"/>
            <a:ext cx="14249400" cy="7296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5. </a:t>
            </a: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적극적 참여 유도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참여를 유도하는 방법들</a:t>
            </a:r>
            <a:endParaRPr lang="en-US" altLang="ko-KR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순서대로 돌아가기</a:t>
            </a:r>
            <a:endParaRPr lang="en-US" altLang="ko-KR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손들기</a:t>
            </a:r>
            <a:endParaRPr lang="en-US" altLang="ko-KR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방법 사용 시 필요한 액션들</a:t>
            </a:r>
            <a:endParaRPr lang="en-US" altLang="ko-KR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아이컨텍</a:t>
            </a:r>
            <a:endParaRPr lang="en-US" altLang="ko-KR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몸 기울이기</a:t>
            </a:r>
            <a:endParaRPr lang="en-US" altLang="ko-KR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흥미와 관심 표현하기</a:t>
            </a:r>
            <a:endParaRPr lang="en-US" altLang="ko-KR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호응하기</a:t>
            </a:r>
          </a:p>
        </p:txBody>
      </p:sp>
      <p:graphicFrame>
        <p:nvGraphicFramePr>
          <p:cNvPr id="3" name="표 11">
            <a:extLst>
              <a:ext uri="{FF2B5EF4-FFF2-40B4-BE49-F238E27FC236}">
                <a16:creationId xmlns:a16="http://schemas.microsoft.com/office/drawing/2014/main" id="{3236A7E2-3A31-9075-9166-4E754EB4D7FF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419100"/>
          <a:ext cx="17373600" cy="52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>
                  <a:extLst>
                    <a:ext uri="{9D8B030D-6E8A-4147-A177-3AD203B41FA5}">
                      <a16:colId xmlns:a16="http://schemas.microsoft.com/office/drawing/2014/main" val="1911139076"/>
                    </a:ext>
                  </a:extLst>
                </a:gridCol>
              </a:tblGrid>
              <a:tr h="5232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02. </a:t>
                      </a:r>
                      <a:r>
                        <a:rPr lang="ko-KR" altLang="en-US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쿠쿠팡팡 교육 환경 정의하기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856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87274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229377-F789-3C5F-F6B4-E64AF64E6EA6}"/>
              </a:ext>
            </a:extLst>
          </p:cNvPr>
          <p:cNvSpPr txBox="1"/>
          <p:nvPr/>
        </p:nvSpPr>
        <p:spPr>
          <a:xfrm>
            <a:off x="-152400" y="-190500"/>
            <a:ext cx="8610600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300" b="1">
                <a:solidFill>
                  <a:srgbClr val="75A5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02-4</a:t>
            </a:r>
            <a:endParaRPr lang="ko-KR" altLang="en-US" sz="11300" b="1">
              <a:solidFill>
                <a:srgbClr val="75A5E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BEE0AF-52F5-6589-567F-3965E69A80B4}"/>
              </a:ext>
            </a:extLst>
          </p:cNvPr>
          <p:cNvSpPr txBox="1"/>
          <p:nvPr/>
        </p:nvSpPr>
        <p:spPr>
          <a:xfrm>
            <a:off x="6248400" y="4283958"/>
            <a:ext cx="61722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좋은 관계를 측정하는 방법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11766DF-6B76-AA3A-3155-E6D8EAA4C0E7}"/>
              </a:ext>
            </a:extLst>
          </p:cNvPr>
          <p:cNvCxnSpPr/>
          <p:nvPr/>
        </p:nvCxnSpPr>
        <p:spPr>
          <a:xfrm>
            <a:off x="6248400" y="5143500"/>
            <a:ext cx="58674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43493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229377-F789-3C5F-F6B4-E64AF64E6EA6}"/>
              </a:ext>
            </a:extLst>
          </p:cNvPr>
          <p:cNvSpPr txBox="1"/>
          <p:nvPr/>
        </p:nvSpPr>
        <p:spPr>
          <a:xfrm>
            <a:off x="-609600" y="-495300"/>
            <a:ext cx="79248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0" b="1">
                <a:solidFill>
                  <a:srgbClr val="75A5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03</a:t>
            </a:r>
            <a:endParaRPr lang="ko-KR" altLang="en-US" sz="28000" b="1">
              <a:solidFill>
                <a:srgbClr val="75A5E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BEE0AF-52F5-6589-567F-3965E69A80B4}"/>
              </a:ext>
            </a:extLst>
          </p:cNvPr>
          <p:cNvSpPr txBox="1"/>
          <p:nvPr/>
        </p:nvSpPr>
        <p:spPr>
          <a:xfrm>
            <a:off x="6248400" y="4283958"/>
            <a:ext cx="61722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좋은 관계를 만드는 리더십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11766DF-6B76-AA3A-3155-E6D8EAA4C0E7}"/>
              </a:ext>
            </a:extLst>
          </p:cNvPr>
          <p:cNvCxnSpPr/>
          <p:nvPr/>
        </p:nvCxnSpPr>
        <p:spPr>
          <a:xfrm>
            <a:off x="6248400" y="5143500"/>
            <a:ext cx="58674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46635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229377-F789-3C5F-F6B4-E64AF64E6EA6}"/>
              </a:ext>
            </a:extLst>
          </p:cNvPr>
          <p:cNvSpPr txBox="1"/>
          <p:nvPr/>
        </p:nvSpPr>
        <p:spPr>
          <a:xfrm>
            <a:off x="-152400" y="-190500"/>
            <a:ext cx="8610600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300" b="1">
                <a:solidFill>
                  <a:srgbClr val="75A5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03-1</a:t>
            </a:r>
            <a:endParaRPr lang="ko-KR" altLang="en-US" sz="11300" b="1">
              <a:solidFill>
                <a:srgbClr val="75A5E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BEE0AF-52F5-6589-567F-3965E69A80B4}"/>
              </a:ext>
            </a:extLst>
          </p:cNvPr>
          <p:cNvSpPr txBox="1"/>
          <p:nvPr/>
        </p:nvSpPr>
        <p:spPr>
          <a:xfrm>
            <a:off x="6248400" y="4283958"/>
            <a:ext cx="61722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상황적 리더십의 이해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11766DF-6B76-AA3A-3155-E6D8EAA4C0E7}"/>
              </a:ext>
            </a:extLst>
          </p:cNvPr>
          <p:cNvCxnSpPr/>
          <p:nvPr/>
        </p:nvCxnSpPr>
        <p:spPr>
          <a:xfrm>
            <a:off x="6248400" y="5143500"/>
            <a:ext cx="58674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09435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61A427-6BC2-563B-FF10-634E57DBE195}"/>
              </a:ext>
            </a:extLst>
          </p:cNvPr>
          <p:cNvSpPr txBox="1"/>
          <p:nvPr/>
        </p:nvSpPr>
        <p:spPr>
          <a:xfrm>
            <a:off x="2019300" y="2303299"/>
            <a:ext cx="14249400" cy="1640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아래 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2</a:t>
            </a: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명의 교육생 중 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1</a:t>
            </a: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명만 채용해야 한다면 누구를 채용하겠습니까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?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graphicFrame>
        <p:nvGraphicFramePr>
          <p:cNvPr id="3" name="표 11">
            <a:extLst>
              <a:ext uri="{FF2B5EF4-FFF2-40B4-BE49-F238E27FC236}">
                <a16:creationId xmlns:a16="http://schemas.microsoft.com/office/drawing/2014/main" id="{3236A7E2-3A31-9075-9166-4E754EB4D7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887075"/>
              </p:ext>
            </p:extLst>
          </p:nvPr>
        </p:nvGraphicFramePr>
        <p:xfrm>
          <a:off x="457200" y="419100"/>
          <a:ext cx="17373600" cy="52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>
                  <a:extLst>
                    <a:ext uri="{9D8B030D-6E8A-4147-A177-3AD203B41FA5}">
                      <a16:colId xmlns:a16="http://schemas.microsoft.com/office/drawing/2014/main" val="1911139076"/>
                    </a:ext>
                  </a:extLst>
                </a:gridCol>
              </a:tblGrid>
              <a:tr h="5232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03. </a:t>
                      </a:r>
                      <a:r>
                        <a:rPr lang="ko-KR" altLang="en-US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쿠쿠팡팡 교육 환경 정의하기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856080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C6753592-3079-97CD-2961-F0EDB5A454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5141"/>
          <a:stretch/>
        </p:blipFill>
        <p:spPr>
          <a:xfrm>
            <a:off x="6248400" y="3467100"/>
            <a:ext cx="6141413" cy="5125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9778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61A427-6BC2-563B-FF10-634E57DBE195}"/>
              </a:ext>
            </a:extLst>
          </p:cNvPr>
          <p:cNvSpPr txBox="1"/>
          <p:nvPr/>
        </p:nvSpPr>
        <p:spPr>
          <a:xfrm>
            <a:off x="968858" y="1355823"/>
            <a:ext cx="14249400" cy="832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직장 상사 유형론</a:t>
            </a:r>
          </a:p>
        </p:txBody>
      </p:sp>
      <p:graphicFrame>
        <p:nvGraphicFramePr>
          <p:cNvPr id="3" name="표 11">
            <a:extLst>
              <a:ext uri="{FF2B5EF4-FFF2-40B4-BE49-F238E27FC236}">
                <a16:creationId xmlns:a16="http://schemas.microsoft.com/office/drawing/2014/main" id="{3236A7E2-3A31-9075-9166-4E754EB4D7FF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419100"/>
          <a:ext cx="17373600" cy="52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>
                  <a:extLst>
                    <a:ext uri="{9D8B030D-6E8A-4147-A177-3AD203B41FA5}">
                      <a16:colId xmlns:a16="http://schemas.microsoft.com/office/drawing/2014/main" val="1911139076"/>
                    </a:ext>
                  </a:extLst>
                </a:gridCol>
              </a:tblGrid>
              <a:tr h="5232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03. </a:t>
                      </a:r>
                      <a:r>
                        <a:rPr lang="ko-KR" altLang="en-US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쿠쿠팡팡 교육 환경 정의하기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856080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FBC4D6BD-55FA-477A-093A-3C5ED97C9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4686300"/>
            <a:ext cx="9326277" cy="3524742"/>
          </a:xfrm>
          <a:prstGeom prst="rect">
            <a:avLst/>
          </a:prstGeom>
        </p:spPr>
      </p:pic>
      <p:pic>
        <p:nvPicPr>
          <p:cNvPr id="19458" name="Picture 2" descr="직장 상사 유형론에서 나는 어떤 타입일까?">
            <a:extLst>
              <a:ext uri="{FF2B5EF4-FFF2-40B4-BE49-F238E27FC236}">
                <a16:creationId xmlns:a16="http://schemas.microsoft.com/office/drawing/2014/main" id="{AA1EE1E1-CDDE-9EED-099A-2BE51AB2F8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2324100"/>
            <a:ext cx="12663702" cy="7436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7068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229377-F789-3C5F-F6B4-E64AF64E6EA6}"/>
              </a:ext>
            </a:extLst>
          </p:cNvPr>
          <p:cNvSpPr txBox="1"/>
          <p:nvPr/>
        </p:nvSpPr>
        <p:spPr>
          <a:xfrm>
            <a:off x="-152400" y="-190500"/>
            <a:ext cx="8610600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300" b="1">
                <a:solidFill>
                  <a:srgbClr val="75A5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03-2</a:t>
            </a:r>
            <a:endParaRPr lang="ko-KR" altLang="en-US" sz="11300" b="1">
              <a:solidFill>
                <a:srgbClr val="75A5E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BEE0AF-52F5-6589-567F-3965E69A80B4}"/>
              </a:ext>
            </a:extLst>
          </p:cNvPr>
          <p:cNvSpPr txBox="1"/>
          <p:nvPr/>
        </p:nvSpPr>
        <p:spPr>
          <a:xfrm>
            <a:off x="6248400" y="4283958"/>
            <a:ext cx="61722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상황적 리더십의 적용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11766DF-6B76-AA3A-3155-E6D8EAA4C0E7}"/>
              </a:ext>
            </a:extLst>
          </p:cNvPr>
          <p:cNvCxnSpPr/>
          <p:nvPr/>
        </p:nvCxnSpPr>
        <p:spPr>
          <a:xfrm>
            <a:off x="6248400" y="5143500"/>
            <a:ext cx="58674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52979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61A427-6BC2-563B-FF10-634E57DBE195}"/>
              </a:ext>
            </a:extLst>
          </p:cNvPr>
          <p:cNvSpPr txBox="1"/>
          <p:nvPr/>
        </p:nvSpPr>
        <p:spPr>
          <a:xfrm>
            <a:off x="1219200" y="1333500"/>
            <a:ext cx="16459200" cy="7309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리더십의 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4</a:t>
            </a: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가지 유형</a:t>
            </a:r>
            <a:endParaRPr lang="en-US" altLang="ko-KR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S1 (</a:t>
            </a: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지시형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Telling) </a:t>
            </a:r>
          </a:p>
          <a:p>
            <a:pPr marL="1428750" lvl="2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구체적인 지시와 명령을 내리고 업무 수행을 면밀하게 감독하는 리더십</a:t>
            </a:r>
            <a:endParaRPr lang="en-US" altLang="ko-KR" sz="28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S2 (</a:t>
            </a: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지도형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Selling) </a:t>
            </a:r>
          </a:p>
          <a:p>
            <a:pPr marL="1428750" lvl="2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지시형과 마찬가지로 리더가 의사 결정의 주체이나</a:t>
            </a:r>
            <a:r>
              <a:rPr lang="en-US" altLang="ko-KR" sz="28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br>
              <a:rPr lang="en-US" altLang="ko-KR" sz="28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</a:br>
            <a:r>
              <a:rPr lang="ko-KR" altLang="en-US" sz="28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부하직원에게 일방적인 지시를 하기 보다는 소통하고설득하는 리더십</a:t>
            </a:r>
            <a:endParaRPr lang="ko-KR" altLang="en-US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S3 (</a:t>
            </a: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지원형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Participating)</a:t>
            </a:r>
          </a:p>
          <a:p>
            <a:pPr marL="1428750" lvl="2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부하직원과 의사결정을 함께하며</a:t>
            </a:r>
            <a:r>
              <a:rPr lang="en-US" altLang="ko-KR" sz="28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28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업무 달성을 위한 지원을 하는 리더십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S4 (</a:t>
            </a: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위임형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Delegating)</a:t>
            </a:r>
          </a:p>
          <a:p>
            <a:pPr marL="1428750" lvl="2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의사결정의 책임을 부하직원에게 위임하는 리더십</a:t>
            </a:r>
          </a:p>
        </p:txBody>
      </p:sp>
      <p:graphicFrame>
        <p:nvGraphicFramePr>
          <p:cNvPr id="3" name="표 11">
            <a:extLst>
              <a:ext uri="{FF2B5EF4-FFF2-40B4-BE49-F238E27FC236}">
                <a16:creationId xmlns:a16="http://schemas.microsoft.com/office/drawing/2014/main" id="{3236A7E2-3A31-9075-9166-4E754EB4D7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872588"/>
              </p:ext>
            </p:extLst>
          </p:nvPr>
        </p:nvGraphicFramePr>
        <p:xfrm>
          <a:off x="457200" y="419100"/>
          <a:ext cx="17373600" cy="52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>
                  <a:extLst>
                    <a:ext uri="{9D8B030D-6E8A-4147-A177-3AD203B41FA5}">
                      <a16:colId xmlns:a16="http://schemas.microsoft.com/office/drawing/2014/main" val="1911139076"/>
                    </a:ext>
                  </a:extLst>
                </a:gridCol>
              </a:tblGrid>
              <a:tr h="5232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03. </a:t>
                      </a:r>
                      <a:r>
                        <a:rPr lang="ko-KR" altLang="en-US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쿠쿠팡팡 교육 환경 정의하기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856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59337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61A427-6BC2-563B-FF10-634E57DBE195}"/>
              </a:ext>
            </a:extLst>
          </p:cNvPr>
          <p:cNvSpPr txBox="1"/>
          <p:nvPr/>
        </p:nvSpPr>
        <p:spPr>
          <a:xfrm>
            <a:off x="1219200" y="1333500"/>
            <a:ext cx="16459200" cy="6663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부하직원의 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4</a:t>
            </a: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가지 유형</a:t>
            </a:r>
            <a:endParaRPr lang="en-US" altLang="ko-KR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M1 </a:t>
            </a:r>
          </a:p>
          <a:p>
            <a:pPr marL="1428750" lvl="2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낮은 능력과 낮은 의욕 </a:t>
            </a:r>
            <a:r>
              <a:rPr lang="en-US" altLang="ko-KR" sz="28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(</a:t>
            </a:r>
            <a:r>
              <a:rPr lang="ko-KR" altLang="en-US" sz="28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예</a:t>
            </a:r>
            <a:r>
              <a:rPr lang="en-US" altLang="ko-KR" sz="28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 </a:t>
            </a:r>
            <a:r>
              <a:rPr lang="ko-KR" altLang="en-US" sz="28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아직 부족한 새내기</a:t>
            </a:r>
            <a:r>
              <a:rPr lang="en-US" altLang="ko-KR" sz="28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)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M2 </a:t>
            </a:r>
          </a:p>
          <a:p>
            <a:pPr marL="1428750" lvl="2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낮은 능력과 높은 의욕 </a:t>
            </a:r>
            <a:r>
              <a:rPr lang="en-US" altLang="ko-KR" sz="28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(</a:t>
            </a:r>
            <a:r>
              <a:rPr lang="ko-KR" altLang="en-US" sz="28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예</a:t>
            </a:r>
            <a:r>
              <a:rPr lang="en-US" altLang="ko-KR" sz="28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 </a:t>
            </a:r>
            <a:r>
              <a:rPr lang="ko-KR" altLang="en-US" sz="28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의욕과 열정이 넘치는 사원</a:t>
            </a:r>
            <a:r>
              <a:rPr lang="en-US" altLang="ko-KR" sz="28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)</a:t>
            </a:r>
            <a:endParaRPr lang="ko-KR" altLang="en-US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M3</a:t>
            </a:r>
          </a:p>
          <a:p>
            <a:pPr marL="1428750" lvl="2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높은 능력과 낮은 의욕 </a:t>
            </a:r>
            <a:r>
              <a:rPr lang="en-US" altLang="ko-KR" sz="28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(</a:t>
            </a:r>
            <a:r>
              <a:rPr lang="ko-KR" altLang="en-US" sz="28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예</a:t>
            </a:r>
            <a:r>
              <a:rPr lang="en-US" altLang="ko-KR" sz="28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 </a:t>
            </a:r>
            <a:r>
              <a:rPr lang="ko-KR" altLang="en-US" sz="28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권태기가 찾아온 중간관리자</a:t>
            </a:r>
            <a:r>
              <a:rPr lang="en-US" altLang="ko-KR" sz="28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)</a:t>
            </a:r>
            <a:endParaRPr lang="ko-KR" altLang="en-US" sz="28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M4 </a:t>
            </a:r>
          </a:p>
          <a:p>
            <a:pPr marL="1428750" lvl="2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높은 능력과 높은 의욕 </a:t>
            </a:r>
            <a:r>
              <a:rPr lang="en-US" altLang="ko-KR" sz="28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(</a:t>
            </a:r>
            <a:r>
              <a:rPr lang="ko-KR" altLang="en-US" sz="28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예</a:t>
            </a:r>
            <a:r>
              <a:rPr lang="en-US" altLang="ko-KR" sz="28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: </a:t>
            </a:r>
            <a:r>
              <a:rPr lang="ko-KR" altLang="en-US" sz="28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역량이 뛰어난 상급자</a:t>
            </a:r>
            <a:r>
              <a:rPr lang="en-US" altLang="ko-KR" sz="28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)</a:t>
            </a:r>
            <a:endParaRPr lang="ko-KR" altLang="en-US" sz="28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graphicFrame>
        <p:nvGraphicFramePr>
          <p:cNvPr id="3" name="표 11">
            <a:extLst>
              <a:ext uri="{FF2B5EF4-FFF2-40B4-BE49-F238E27FC236}">
                <a16:creationId xmlns:a16="http://schemas.microsoft.com/office/drawing/2014/main" id="{3236A7E2-3A31-9075-9166-4E754EB4D7FF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419100"/>
          <a:ext cx="17373600" cy="52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>
                  <a:extLst>
                    <a:ext uri="{9D8B030D-6E8A-4147-A177-3AD203B41FA5}">
                      <a16:colId xmlns:a16="http://schemas.microsoft.com/office/drawing/2014/main" val="1911139076"/>
                    </a:ext>
                  </a:extLst>
                </a:gridCol>
              </a:tblGrid>
              <a:tr h="5232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03. </a:t>
                      </a:r>
                      <a:r>
                        <a:rPr lang="ko-KR" altLang="en-US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쿠쿠팡팡 교육 환경 정의하기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856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32049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61A427-6BC2-563B-FF10-634E57DBE195}"/>
              </a:ext>
            </a:extLst>
          </p:cNvPr>
          <p:cNvSpPr txBox="1"/>
          <p:nvPr/>
        </p:nvSpPr>
        <p:spPr>
          <a:xfrm>
            <a:off x="914400" y="1162026"/>
            <a:ext cx="14249400" cy="832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상황적합 리더십</a:t>
            </a:r>
          </a:p>
        </p:txBody>
      </p:sp>
      <p:graphicFrame>
        <p:nvGraphicFramePr>
          <p:cNvPr id="3" name="표 11">
            <a:extLst>
              <a:ext uri="{FF2B5EF4-FFF2-40B4-BE49-F238E27FC236}">
                <a16:creationId xmlns:a16="http://schemas.microsoft.com/office/drawing/2014/main" id="{3236A7E2-3A31-9075-9166-4E754EB4D7FF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419100"/>
          <a:ext cx="17373600" cy="52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>
                  <a:extLst>
                    <a:ext uri="{9D8B030D-6E8A-4147-A177-3AD203B41FA5}">
                      <a16:colId xmlns:a16="http://schemas.microsoft.com/office/drawing/2014/main" val="1911139076"/>
                    </a:ext>
                  </a:extLst>
                </a:gridCol>
              </a:tblGrid>
              <a:tr h="5232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03. </a:t>
                      </a:r>
                      <a:r>
                        <a:rPr lang="ko-KR" altLang="en-US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쿠쿠팡팡 교육 환경 정의하기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856080"/>
                  </a:ext>
                </a:extLst>
              </a:tr>
            </a:tbl>
          </a:graphicData>
        </a:graphic>
      </p:graphicFrame>
      <p:pic>
        <p:nvPicPr>
          <p:cNvPr id="28674" name="Picture 2" descr="허시와 블랜차드의 리더십 상황이론(수명주기이론)">
            <a:extLst>
              <a:ext uri="{FF2B5EF4-FFF2-40B4-BE49-F238E27FC236}">
                <a16:creationId xmlns:a16="http://schemas.microsoft.com/office/drawing/2014/main" id="{5F5F2F8F-B841-69ED-B8D3-D29EE57293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2781300"/>
            <a:ext cx="10575266" cy="596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E020778-05BB-375B-AC6B-83D653E89B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2212975"/>
            <a:ext cx="13658071" cy="6829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7159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E9CFE7-2AF4-DCB8-3E81-4F5E3BEACBB1}"/>
              </a:ext>
            </a:extLst>
          </p:cNvPr>
          <p:cNvSpPr txBox="1"/>
          <p:nvPr/>
        </p:nvSpPr>
        <p:spPr>
          <a:xfrm>
            <a:off x="-228600" y="-221516"/>
            <a:ext cx="173736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0" b="1">
                <a:solidFill>
                  <a:srgbClr val="75A5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REVIEW</a:t>
            </a:r>
            <a:endParaRPr lang="ko-KR" altLang="en-US" sz="10000" b="1">
              <a:solidFill>
                <a:srgbClr val="75A5E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A85E9464-B274-B38C-AE4E-ECA80D3661BF}"/>
              </a:ext>
            </a:extLst>
          </p:cNvPr>
          <p:cNvSpPr/>
          <p:nvPr/>
        </p:nvSpPr>
        <p:spPr>
          <a:xfrm>
            <a:off x="1143001" y="2324100"/>
            <a:ext cx="720000" cy="720000"/>
          </a:xfrm>
          <a:prstGeom prst="ellipse">
            <a:avLst/>
          </a:prstGeom>
          <a:solidFill>
            <a:srgbClr val="4E489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01</a:t>
            </a:r>
            <a:endParaRPr lang="ko-KR" altLang="en-US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75848B26-471C-5CF1-707C-2879CF71C669}"/>
              </a:ext>
            </a:extLst>
          </p:cNvPr>
          <p:cNvSpPr/>
          <p:nvPr/>
        </p:nvSpPr>
        <p:spPr>
          <a:xfrm>
            <a:off x="1143001" y="4513735"/>
            <a:ext cx="720000" cy="720000"/>
          </a:xfrm>
          <a:prstGeom prst="ellipse">
            <a:avLst/>
          </a:prstGeom>
          <a:solidFill>
            <a:srgbClr val="5BC5D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02</a:t>
            </a:r>
            <a:endParaRPr lang="ko-KR" altLang="en-US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C638839C-9FCB-C886-2060-753605C70A3C}"/>
              </a:ext>
            </a:extLst>
          </p:cNvPr>
          <p:cNvSpPr/>
          <p:nvPr/>
        </p:nvSpPr>
        <p:spPr>
          <a:xfrm>
            <a:off x="1143001" y="6703369"/>
            <a:ext cx="720000" cy="720000"/>
          </a:xfrm>
          <a:prstGeom prst="ellipse">
            <a:avLst/>
          </a:prstGeom>
          <a:solidFill>
            <a:srgbClr val="6297E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03</a:t>
            </a:r>
            <a:endParaRPr lang="ko-KR" altLang="en-US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1C560B-8CA0-628F-CB65-EB57667183BC}"/>
              </a:ext>
            </a:extLst>
          </p:cNvPr>
          <p:cNvSpPr txBox="1"/>
          <p:nvPr/>
        </p:nvSpPr>
        <p:spPr>
          <a:xfrm>
            <a:off x="2057399" y="6747898"/>
            <a:ext cx="1508759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리더십은 고정되어 있는 가치가 아닙니다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</a:t>
            </a:r>
            <a:b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</a:b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관계와 역량에 따라 변화합니다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</a:t>
            </a:r>
            <a:endParaRPr lang="ko-KR" altLang="en-US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1F30EA-0A21-94B1-7330-FA756BB293B3}"/>
              </a:ext>
            </a:extLst>
          </p:cNvPr>
          <p:cNvSpPr txBox="1"/>
          <p:nvPr/>
        </p:nvSpPr>
        <p:spPr>
          <a:xfrm>
            <a:off x="2057399" y="4288959"/>
            <a:ext cx="1508759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교육생들의 변화를 촉진하기 위해 우리는 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5</a:t>
            </a: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가지 기술을 사용합니다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</a:t>
            </a:r>
          </a:p>
          <a:p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적극적 경청 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/ </a:t>
            </a: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공감적 이해 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/ </a:t>
            </a: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초점 맞추기 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/ </a:t>
            </a: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모델링 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/ </a:t>
            </a:r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적극적 참여 유도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AD1FF3-FB9D-3932-8434-C3E4D32E2854}"/>
              </a:ext>
            </a:extLst>
          </p:cNvPr>
          <p:cNvSpPr txBox="1"/>
          <p:nvPr/>
        </p:nvSpPr>
        <p:spPr>
          <a:xfrm>
            <a:off x="2209800" y="2099324"/>
            <a:ext cx="1508759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쿠쿠팡팡 강사의 고객은 교육생입니다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</a:t>
            </a:r>
          </a:p>
          <a:p>
            <a:r>
              <a:rPr lang="ko-KR" altLang="en-US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교육생의 만족도 향상을 위해 노력합니다</a:t>
            </a:r>
            <a:r>
              <a:rPr lang="en-US" altLang="ko-KR" sz="35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</a:t>
            </a:r>
            <a:endParaRPr lang="ko-KR" altLang="en-US" sz="350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15732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812055-7CCE-8671-22D7-7AA6A28DEF5C}"/>
              </a:ext>
            </a:extLst>
          </p:cNvPr>
          <p:cNvSpPr txBox="1"/>
          <p:nvPr/>
        </p:nvSpPr>
        <p:spPr>
          <a:xfrm>
            <a:off x="6667500" y="2722697"/>
            <a:ext cx="4953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ko-KR" altLang="en-US" sz="720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감사합니다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B3E2F3-C992-E4B7-059C-B68E12585E67}"/>
              </a:ext>
            </a:extLst>
          </p:cNvPr>
          <p:cNvSpPr txBox="1"/>
          <p:nvPr/>
        </p:nvSpPr>
        <p:spPr>
          <a:xfrm>
            <a:off x="6858778" y="3771900"/>
            <a:ext cx="4582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>
                <a:solidFill>
                  <a:schemeClr val="bg1">
                    <a:lumMod val="8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INSTRUCTOR</a:t>
            </a:r>
          </a:p>
          <a:p>
            <a:pPr algn="dist"/>
            <a:r>
              <a:rPr lang="en-US" altLang="ko-KR">
                <a:solidFill>
                  <a:schemeClr val="bg1">
                    <a:lumMod val="8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EVALUATION</a:t>
            </a:r>
          </a:p>
          <a:p>
            <a:pPr algn="dist"/>
            <a:r>
              <a:rPr lang="en-US" altLang="ko-KR">
                <a:solidFill>
                  <a:schemeClr val="bg1">
                    <a:lumMod val="8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FORM</a:t>
            </a:r>
            <a:endParaRPr lang="ko-KR" altLang="en-US">
              <a:solidFill>
                <a:schemeClr val="bg1">
                  <a:lumMod val="8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aphicFrame>
        <p:nvGraphicFramePr>
          <p:cNvPr id="5" name="표 11">
            <a:extLst>
              <a:ext uri="{FF2B5EF4-FFF2-40B4-BE49-F238E27FC236}">
                <a16:creationId xmlns:a16="http://schemas.microsoft.com/office/drawing/2014/main" id="{A0604E3F-E3F1-7E1E-53A6-679D3181B9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3754932"/>
              </p:ext>
            </p:extLst>
          </p:nvPr>
        </p:nvGraphicFramePr>
        <p:xfrm>
          <a:off x="6852600" y="6136649"/>
          <a:ext cx="45828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82800">
                  <a:extLst>
                    <a:ext uri="{9D8B030D-6E8A-4147-A177-3AD203B41FA5}">
                      <a16:colId xmlns:a16="http://schemas.microsoft.com/office/drawing/2014/main" val="19111390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di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쉬는시간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856080"/>
                  </a:ext>
                </a:extLst>
              </a:tr>
            </a:tbl>
          </a:graphicData>
        </a:graphic>
      </p:graphicFrame>
      <p:graphicFrame>
        <p:nvGraphicFramePr>
          <p:cNvPr id="6" name="표 11">
            <a:extLst>
              <a:ext uri="{FF2B5EF4-FFF2-40B4-BE49-F238E27FC236}">
                <a16:creationId xmlns:a16="http://schemas.microsoft.com/office/drawing/2014/main" id="{0542CE03-D57F-7B6C-D109-60B3BD9689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7255899"/>
              </p:ext>
            </p:extLst>
          </p:nvPr>
        </p:nvGraphicFramePr>
        <p:xfrm>
          <a:off x="6819900" y="2206541"/>
          <a:ext cx="45828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82800">
                  <a:extLst>
                    <a:ext uri="{9D8B030D-6E8A-4147-A177-3AD203B41FA5}">
                      <a16:colId xmlns:a16="http://schemas.microsoft.com/office/drawing/2014/main" val="19111390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COUPANG CS Learning &amp; Development</a:t>
                      </a:r>
                      <a:endParaRPr lang="ko-KR" altLang="en-US" sz="1800" b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856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3734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yzzk xmlns="da280f4d-b1c4-45d4-bb71-3cc4b6fdc42d" xsi:nil="true"/>
    <_xb0a0__xc9dc__xbc0f__xc2dc__xac04_ xmlns="da280f4d-b1c4-45d4-bb71-3cc4b6fdc42d" xsi:nil="true"/>
    <_xc0ac__xb78c_ xmlns="da280f4d-b1c4-45d4-bb71-3cc4b6fdc42d">
      <UserInfo>
        <DisplayName/>
        <AccountId xsi:nil="true"/>
        <AccountType/>
      </UserInfo>
    </_xc0ac__xb78c_>
    <lcf76f155ced4ddcb4097134ff3c332f xmlns="da280f4d-b1c4-45d4-bb71-3cc4b6fdc42d">
      <Terms xmlns="http://schemas.microsoft.com/office/infopath/2007/PartnerControls"/>
    </lcf76f155ced4ddcb4097134ff3c332f>
    <TaxCatchAll xmlns="ccda2774-b45b-4003-a445-29e0366a73c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D91C6988CB39841A8A2793FC7ACB4AB" ma:contentTypeVersion="35" ma:contentTypeDescription="Create a new document." ma:contentTypeScope="" ma:versionID="3914fcc4c395180250ab37f99754ed14">
  <xsd:schema xmlns:xsd="http://www.w3.org/2001/XMLSchema" xmlns:xs="http://www.w3.org/2001/XMLSchema" xmlns:p="http://schemas.microsoft.com/office/2006/metadata/properties" xmlns:ns2="da280f4d-b1c4-45d4-bb71-3cc4b6fdc42d" xmlns:ns3="ccda2774-b45b-4003-a445-29e0366a73cf" targetNamespace="http://schemas.microsoft.com/office/2006/metadata/properties" ma:root="true" ma:fieldsID="c09485f258042c15f9fc7b40618d25ca" ns2:_="" ns3:_="">
    <xsd:import namespace="da280f4d-b1c4-45d4-bb71-3cc4b6fdc42d"/>
    <xsd:import namespace="ccda2774-b45b-4003-a445-29e0366a73c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yzzk" minOccurs="0"/>
                <xsd:element ref="ns2:db3b239b-20e5-47e0-a246-951ed1adcb54CountryOrRegion" minOccurs="0"/>
                <xsd:element ref="ns2:db3b239b-20e5-47e0-a246-951ed1adcb54State" minOccurs="0"/>
                <xsd:element ref="ns2:db3b239b-20e5-47e0-a246-951ed1adcb54City" minOccurs="0"/>
                <xsd:element ref="ns2:db3b239b-20e5-47e0-a246-951ed1adcb54PostalCode" minOccurs="0"/>
                <xsd:element ref="ns2:db3b239b-20e5-47e0-a246-951ed1adcb54Street" minOccurs="0"/>
                <xsd:element ref="ns2:db3b239b-20e5-47e0-a246-951ed1adcb54GeoLoc" minOccurs="0"/>
                <xsd:element ref="ns2:db3b239b-20e5-47e0-a246-951ed1adcb54DispNam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_xb0a0__xc9dc__xbc0f__xc2dc__xac04_" minOccurs="0"/>
                <xsd:element ref="ns2:_xc0ac__xb78c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280f4d-b1c4-45d4-bb71-3cc4b6fdc4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internalName="MediaServiceLocation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yzzk" ma:index="18" nillable="true" ma:displayName="위치" ma:internalName="yzzk">
      <xsd:simpleType>
        <xsd:restriction base="dms:Unknown"/>
      </xsd:simpleType>
    </xsd:element>
    <xsd:element name="db3b239b-20e5-47e0-a246-951ed1adcb54CountryOrRegion" ma:index="19" nillable="true" ma:displayName="위치: 국가/지역" ma:internalName="CountryOrRegion" ma:readOnly="true">
      <xsd:simpleType>
        <xsd:restriction base="dms:Text"/>
      </xsd:simpleType>
    </xsd:element>
    <xsd:element name="db3b239b-20e5-47e0-a246-951ed1adcb54State" ma:index="20" nillable="true" ma:displayName="위치: 시/도" ma:internalName="State" ma:readOnly="true">
      <xsd:simpleType>
        <xsd:restriction base="dms:Text"/>
      </xsd:simpleType>
    </xsd:element>
    <xsd:element name="db3b239b-20e5-47e0-a246-951ed1adcb54City" ma:index="21" nillable="true" ma:displayName="위치: 도시" ma:internalName="City" ma:readOnly="true">
      <xsd:simpleType>
        <xsd:restriction base="dms:Text"/>
      </xsd:simpleType>
    </xsd:element>
    <xsd:element name="db3b239b-20e5-47e0-a246-951ed1adcb54PostalCode" ma:index="22" nillable="true" ma:displayName="위치: 우편 번호" ma:internalName="PostalCode" ma:readOnly="true">
      <xsd:simpleType>
        <xsd:restriction base="dms:Text"/>
      </xsd:simpleType>
    </xsd:element>
    <xsd:element name="db3b239b-20e5-47e0-a246-951ed1adcb54Street" ma:index="23" nillable="true" ma:displayName="위치: 주소" ma:internalName="Street" ma:readOnly="true">
      <xsd:simpleType>
        <xsd:restriction base="dms:Text"/>
      </xsd:simpleType>
    </xsd:element>
    <xsd:element name="db3b239b-20e5-47e0-a246-951ed1adcb54GeoLoc" ma:index="24" nillable="true" ma:displayName="위치: 좌표" ma:internalName="GeoLoc" ma:readOnly="true">
      <xsd:simpleType>
        <xsd:restriction base="dms:Unknown"/>
      </xsd:simpleType>
    </xsd:element>
    <xsd:element name="db3b239b-20e5-47e0-a246-951ed1adcb54DispName" ma:index="25" nillable="true" ma:displayName="위치: 이름" ma:internalName="DispName" ma:readOnly="true">
      <xsd:simpleType>
        <xsd:restriction base="dms:Text"/>
      </xsd:simpleType>
    </xsd:element>
    <xsd:element name="MediaServiceAutoKeyPoints" ma:index="2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30" nillable="true" ma:taxonomy="true" ma:internalName="lcf76f155ced4ddcb4097134ff3c332f" ma:taxonomyFieldName="MediaServiceImageTags" ma:displayName="Image Tags" ma:readOnly="false" ma:fieldId="{5cf76f15-5ced-4ddc-b409-7134ff3c332f}" ma:taxonomyMulti="true" ma:sspId="20854719-7f39-44a1-8af1-73a453c2887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xb0a0__xc9dc__xbc0f__xc2dc__xac04_" ma:index="32" nillable="true" ma:displayName="날짜 및 시간" ma:format="DateOnly" ma:internalName="_xb0a0__xc9dc__xbc0f__xc2dc__xac04_">
      <xsd:simpleType>
        <xsd:restriction base="dms:DateTime"/>
      </xsd:simpleType>
    </xsd:element>
    <xsd:element name="_xc0ac__xb78c_" ma:index="33" nillable="true" ma:displayName="사람" ma:format="Dropdown" ma:list="UserInfo" ma:SharePointGroup="0" ma:internalName="_xc0ac__xb78c_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da2774-b45b-4003-a445-29e0366a73c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31" nillable="true" ma:displayName="Taxonomy Catch All Column" ma:hidden="true" ma:list="{2aceb380-6e58-4f4a-93b0-9aef84200117}" ma:internalName="TaxCatchAll" ma:showField="CatchAllData" ma:web="ccda2774-b45b-4003-a445-29e0366a73c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7FEFA11-E139-4C43-A531-7546DCADC7FE}">
  <ds:schemaRefs>
    <ds:schemaRef ds:uri="http://schemas.microsoft.com/office/2006/metadata/properties"/>
    <ds:schemaRef ds:uri="http://schemas.microsoft.com/office/infopath/2007/PartnerControls"/>
    <ds:schemaRef ds:uri="da280f4d-b1c4-45d4-bb71-3cc4b6fdc42d"/>
    <ds:schemaRef ds:uri="ccda2774-b45b-4003-a445-29e0366a73cf"/>
  </ds:schemaRefs>
</ds:datastoreItem>
</file>

<file path=customXml/itemProps2.xml><?xml version="1.0" encoding="utf-8"?>
<ds:datastoreItem xmlns:ds="http://schemas.openxmlformats.org/officeDocument/2006/customXml" ds:itemID="{260429D4-D1D1-4157-86AE-5CA7286BA4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280f4d-b1c4-45d4-bb71-3cc4b6fdc42d"/>
    <ds:schemaRef ds:uri="ccda2774-b45b-4003-a445-29e0366a73c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5EFEDFF-2C9B-4914-85D1-05AB14472A3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3451</TotalTime>
  <Words>7340</Words>
  <Application>Microsoft Office PowerPoint</Application>
  <PresentationFormat>사용자 지정</PresentationFormat>
  <Paragraphs>471</Paragraphs>
  <Slides>45</Slides>
  <Notes>30</Notes>
  <HiddenSlides>1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45</vt:i4>
      </vt:variant>
    </vt:vector>
  </HeadingPairs>
  <TitlesOfParts>
    <vt:vector size="51" baseType="lpstr">
      <vt:lpstr>Arial</vt:lpstr>
      <vt:lpstr>Calibri</vt:lpstr>
      <vt:lpstr>맑은 고딕</vt:lpstr>
      <vt:lpstr>배달의민족 도현</vt:lpstr>
      <vt:lpstr>나눔스퀘어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officegen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officegen</dc:creator>
  <cp:lastModifiedBy>현미지</cp:lastModifiedBy>
  <cp:revision>25</cp:revision>
  <dcterms:created xsi:type="dcterms:W3CDTF">2022-08-31T13:19:00Z</dcterms:created>
  <dcterms:modified xsi:type="dcterms:W3CDTF">2023-05-23T15:24:13Z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0x0101003D91C6988CB39841A8A2793FC7ACB4AB</vt:lpwstr>
  </property>
</Properties>
</file>